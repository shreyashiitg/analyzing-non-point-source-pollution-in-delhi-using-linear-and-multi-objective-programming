
<file path=[Content_Types].xml><?xml version="1.0" encoding="utf-8"?>
<Types xmlns="http://schemas.openxmlformats.org/package/2006/content-types">
  <Default Extension="PhpPresentationReaderPpt2007BkgBbIkIh" ContentType="application/octet-stream"/>
  <Default Extension="PhpPresentationReaderPpt2007BkgbgeGOh" ContentType="application/octet-stream"/>
  <Default Extension="PhpPresentationReaderPpt2007BkgbPhIFh" ContentType="application/octet-stream"/>
  <Default Extension="PhpPresentationReaderPpt2007BkgDCAIHh" ContentType="application/octet-stream"/>
  <Default Extension="PhpPresentationReaderPpt2007BkgHEojch" ContentType="application/octet-stream"/>
  <Default Extension="PhpPresentationReaderPpt2007BkglDCBih" ContentType="application/octet-stream"/>
  <Default Extension="PhpPresentationReaderPpt2007BkglFgaAh" ContentType="application/octet-stream"/>
  <Default Extension="PhpPresentationReaderPpt2007BkgLPLJLh" ContentType="application/octet-stream"/>
  <Default Extension="PhpPresentationReaderPpt2007BkgPOEkah" ContentType="application/octet-stream"/>
  <Default Extension="PhpPresentationReaderPpt2007BkgPoNjfh" ContentType="application/octet-stream"/>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68" r:id="rId5"/>
    <p:sldId id="269" r:id="rId6"/>
    <p:sldId id="270" r:id="rId7"/>
    <p:sldId id="276" r:id="rId8"/>
    <p:sldId id="261" r:id="rId9"/>
    <p:sldId id="271" r:id="rId10"/>
    <p:sldId id="272" r:id="rId11"/>
    <p:sldId id="273" r:id="rId12"/>
    <p:sldId id="274" r:id="rId13"/>
    <p:sldId id="275" r:id="rId14"/>
    <p:sldId id="263" r:id="rId15"/>
    <p:sldId id="266" r:id="rId16"/>
  </p:sldIdLst>
  <p:sldSz cx="9144000" cy="51435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8249" autoAdjust="0"/>
  </p:normalViewPr>
  <p:slideViewPr>
    <p:cSldViewPr>
      <p:cViewPr varScale="1">
        <p:scale>
          <a:sx n="111" d="100"/>
          <a:sy n="111" d="100"/>
        </p:scale>
        <p:origin x="619"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D:\Downloads\IIT%20ECE%20studies\5th%20sem\Computer%20aided%20applied%20optimization%20(CL%20643)\Project\Other\Optimized%20DataSet%20Delhi.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Downloads\IIT%20ECE%20studies\5th%20sem\Computer%20aided%20applied%20optimization%20(CL%20643)\Project\Other\Optimized%20DataSet%20Delhi.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Downloads\IIT%20ECE%20studies\5th%20sem\Computer%20aided%20applied%20optimization%20(CL%20643)\Project\Other\Optimized%20DataSet%20Delhi.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dirty="0"/>
              <a:t>Optimal areas of each land use structure</a:t>
            </a:r>
            <a:r>
              <a:rPr lang="en-US" baseline="0" dirty="0"/>
              <a:t> according to optimization percentage</a:t>
            </a:r>
            <a:r>
              <a:rPr lang="en-US" dirty="0"/>
              <a:t> </a:t>
            </a:r>
          </a:p>
        </c:rich>
      </c:tx>
      <c:layout>
        <c:manualLayout>
          <c:xMode val="edge"/>
          <c:yMode val="edge"/>
          <c:x val="0.12033671904364529"/>
          <c:y val="1.9596588033428383E-2"/>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manualLayout>
          <c:layoutTarget val="inner"/>
          <c:xMode val="edge"/>
          <c:yMode val="edge"/>
          <c:x val="0.10525808580191427"/>
          <c:y val="0.23238297596563343"/>
          <c:w val="0.82750084852382377"/>
          <c:h val="0.64065283898496872"/>
        </c:manualLayout>
      </c:layout>
      <c:barChart>
        <c:barDir val="bar"/>
        <c:grouping val="clustered"/>
        <c:varyColors val="0"/>
        <c:ser>
          <c:idx val="0"/>
          <c:order val="0"/>
          <c:tx>
            <c:strRef>
              <c:f>BaseYear!$A$12</c:f>
              <c:strCache>
                <c:ptCount val="1"/>
                <c:pt idx="0">
                  <c:v>AL</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BaseYear!$B$11:$F$11</c:f>
              <c:strCache>
                <c:ptCount val="5"/>
                <c:pt idx="0">
                  <c:v>Base Year</c:v>
                </c:pt>
                <c:pt idx="1">
                  <c:v>o1</c:v>
                </c:pt>
                <c:pt idx="2">
                  <c:v>o2</c:v>
                </c:pt>
                <c:pt idx="3">
                  <c:v>o3</c:v>
                </c:pt>
                <c:pt idx="4">
                  <c:v>o4</c:v>
                </c:pt>
              </c:strCache>
            </c:strRef>
          </c:cat>
          <c:val>
            <c:numRef>
              <c:f>BaseYear!$B$12:$F$12</c:f>
              <c:numCache>
                <c:formatCode>General</c:formatCode>
                <c:ptCount val="5"/>
                <c:pt idx="0">
                  <c:v>456.09300000000002</c:v>
                </c:pt>
                <c:pt idx="1">
                  <c:v>400</c:v>
                </c:pt>
                <c:pt idx="2">
                  <c:v>400</c:v>
                </c:pt>
                <c:pt idx="3">
                  <c:v>400</c:v>
                </c:pt>
                <c:pt idx="4">
                  <c:v>400</c:v>
                </c:pt>
              </c:numCache>
            </c:numRef>
          </c:val>
          <c:extLst>
            <c:ext xmlns:c16="http://schemas.microsoft.com/office/drawing/2014/chart" uri="{C3380CC4-5D6E-409C-BE32-E72D297353CC}">
              <c16:uniqueId val="{00000000-1D26-40BD-B8AD-13FC6FB345C4}"/>
            </c:ext>
          </c:extLst>
        </c:ser>
        <c:ser>
          <c:idx val="1"/>
          <c:order val="1"/>
          <c:tx>
            <c:strRef>
              <c:f>BaseYear!$A$13</c:f>
              <c:strCache>
                <c:ptCount val="1"/>
                <c:pt idx="0">
                  <c:v>FL</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BaseYear!$B$11:$F$11</c:f>
              <c:strCache>
                <c:ptCount val="5"/>
                <c:pt idx="0">
                  <c:v>Base Year</c:v>
                </c:pt>
                <c:pt idx="1">
                  <c:v>o1</c:v>
                </c:pt>
                <c:pt idx="2">
                  <c:v>o2</c:v>
                </c:pt>
                <c:pt idx="3">
                  <c:v>o3</c:v>
                </c:pt>
                <c:pt idx="4">
                  <c:v>o4</c:v>
                </c:pt>
              </c:strCache>
            </c:strRef>
          </c:cat>
          <c:val>
            <c:numRef>
              <c:f>BaseYear!$B$13:$F$13</c:f>
              <c:numCache>
                <c:formatCode>General</c:formatCode>
                <c:ptCount val="5"/>
                <c:pt idx="0">
                  <c:v>5093.4399999999996</c:v>
                </c:pt>
                <c:pt idx="1">
                  <c:v>4870.33</c:v>
                </c:pt>
                <c:pt idx="2">
                  <c:v>4311.4219999999996</c:v>
                </c:pt>
                <c:pt idx="3">
                  <c:v>3722.3270000000002</c:v>
                </c:pt>
                <c:pt idx="4">
                  <c:v>3031.9470000000001</c:v>
                </c:pt>
              </c:numCache>
            </c:numRef>
          </c:val>
          <c:extLst>
            <c:ext xmlns:c16="http://schemas.microsoft.com/office/drawing/2014/chart" uri="{C3380CC4-5D6E-409C-BE32-E72D297353CC}">
              <c16:uniqueId val="{00000001-1D26-40BD-B8AD-13FC6FB345C4}"/>
            </c:ext>
          </c:extLst>
        </c:ser>
        <c:ser>
          <c:idx val="2"/>
          <c:order val="2"/>
          <c:tx>
            <c:strRef>
              <c:f>BaseYear!$A$14</c:f>
              <c:strCache>
                <c:ptCount val="1"/>
                <c:pt idx="0">
                  <c:v>GL</c:v>
                </c:pt>
              </c:strCache>
            </c:strRef>
          </c:tx>
          <c:spPr>
            <a:solidFill>
              <a:schemeClr val="accent3">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BaseYear!$B$11:$F$11</c:f>
              <c:strCache>
                <c:ptCount val="5"/>
                <c:pt idx="0">
                  <c:v>Base Year</c:v>
                </c:pt>
                <c:pt idx="1">
                  <c:v>o1</c:v>
                </c:pt>
                <c:pt idx="2">
                  <c:v>o2</c:v>
                </c:pt>
                <c:pt idx="3">
                  <c:v>o3</c:v>
                </c:pt>
                <c:pt idx="4">
                  <c:v>o4</c:v>
                </c:pt>
              </c:strCache>
            </c:strRef>
          </c:cat>
          <c:val>
            <c:numRef>
              <c:f>BaseYear!$B$14:$F$14</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2-1D26-40BD-B8AD-13FC6FB345C4}"/>
            </c:ext>
          </c:extLst>
        </c:ser>
        <c:ser>
          <c:idx val="3"/>
          <c:order val="3"/>
          <c:tx>
            <c:strRef>
              <c:f>BaseYear!$A$15</c:f>
              <c:strCache>
                <c:ptCount val="1"/>
                <c:pt idx="0">
                  <c:v>WR</c:v>
                </c:pt>
              </c:strCache>
            </c:strRef>
          </c:tx>
          <c:spPr>
            <a:solidFill>
              <a:schemeClr val="accent4">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BaseYear!$B$11:$F$11</c:f>
              <c:strCache>
                <c:ptCount val="5"/>
                <c:pt idx="0">
                  <c:v>Base Year</c:v>
                </c:pt>
                <c:pt idx="1">
                  <c:v>o1</c:v>
                </c:pt>
                <c:pt idx="2">
                  <c:v>o2</c:v>
                </c:pt>
                <c:pt idx="3">
                  <c:v>o3</c:v>
                </c:pt>
                <c:pt idx="4">
                  <c:v>o4</c:v>
                </c:pt>
              </c:strCache>
            </c:strRef>
          </c:cat>
          <c:val>
            <c:numRef>
              <c:f>BaseYear!$B$15:$F$15</c:f>
              <c:numCache>
                <c:formatCode>General</c:formatCode>
                <c:ptCount val="5"/>
                <c:pt idx="0">
                  <c:v>120</c:v>
                </c:pt>
                <c:pt idx="1">
                  <c:v>120</c:v>
                </c:pt>
                <c:pt idx="2">
                  <c:v>116.417</c:v>
                </c:pt>
                <c:pt idx="3">
                  <c:v>96.16</c:v>
                </c:pt>
                <c:pt idx="4">
                  <c:v>96.16</c:v>
                </c:pt>
              </c:numCache>
            </c:numRef>
          </c:val>
          <c:extLst>
            <c:ext xmlns:c16="http://schemas.microsoft.com/office/drawing/2014/chart" uri="{C3380CC4-5D6E-409C-BE32-E72D297353CC}">
              <c16:uniqueId val="{00000003-1D26-40BD-B8AD-13FC6FB345C4}"/>
            </c:ext>
          </c:extLst>
        </c:ser>
        <c:ser>
          <c:idx val="4"/>
          <c:order val="4"/>
          <c:tx>
            <c:strRef>
              <c:f>BaseYear!$A$16</c:f>
              <c:strCache>
                <c:ptCount val="1"/>
                <c:pt idx="0">
                  <c:v>CL</c:v>
                </c:pt>
              </c:strCache>
            </c:strRef>
          </c:tx>
          <c:spPr>
            <a:solidFill>
              <a:schemeClr val="accent5">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BaseYear!$B$11:$F$11</c:f>
              <c:strCache>
                <c:ptCount val="5"/>
                <c:pt idx="0">
                  <c:v>Base Year</c:v>
                </c:pt>
                <c:pt idx="1">
                  <c:v>o1</c:v>
                </c:pt>
                <c:pt idx="2">
                  <c:v>o2</c:v>
                </c:pt>
                <c:pt idx="3">
                  <c:v>o3</c:v>
                </c:pt>
                <c:pt idx="4">
                  <c:v>o4</c:v>
                </c:pt>
              </c:strCache>
            </c:strRef>
          </c:cat>
          <c:val>
            <c:numRef>
              <c:f>BaseYear!$B$16:$F$16</c:f>
              <c:numCache>
                <c:formatCode>General</c:formatCode>
                <c:ptCount val="5"/>
                <c:pt idx="0">
                  <c:v>1000</c:v>
                </c:pt>
                <c:pt idx="1">
                  <c:v>1000</c:v>
                </c:pt>
                <c:pt idx="2">
                  <c:v>1000</c:v>
                </c:pt>
                <c:pt idx="3">
                  <c:v>1000</c:v>
                </c:pt>
                <c:pt idx="4">
                  <c:v>1000</c:v>
                </c:pt>
              </c:numCache>
            </c:numRef>
          </c:val>
          <c:extLst>
            <c:ext xmlns:c16="http://schemas.microsoft.com/office/drawing/2014/chart" uri="{C3380CC4-5D6E-409C-BE32-E72D297353CC}">
              <c16:uniqueId val="{00000004-1D26-40BD-B8AD-13FC6FB345C4}"/>
            </c:ext>
          </c:extLst>
        </c:ser>
        <c:dLbls>
          <c:dLblPos val="inEnd"/>
          <c:showLegendKey val="0"/>
          <c:showVal val="1"/>
          <c:showCatName val="0"/>
          <c:showSerName val="0"/>
          <c:showPercent val="0"/>
          <c:showBubbleSize val="0"/>
        </c:dLbls>
        <c:gapWidth val="65"/>
        <c:axId val="1828517200"/>
        <c:axId val="1828521520"/>
      </c:barChart>
      <c:catAx>
        <c:axId val="1828517200"/>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828521520"/>
        <c:crosses val="autoZero"/>
        <c:auto val="1"/>
        <c:lblAlgn val="ctr"/>
        <c:lblOffset val="100"/>
        <c:noMultiLvlLbl val="0"/>
      </c:catAx>
      <c:valAx>
        <c:axId val="1828521520"/>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1828517200"/>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small" spc="150" baseline="0">
                <a:solidFill>
                  <a:schemeClr val="tx1">
                    <a:lumMod val="50000"/>
                    <a:lumOff val="50000"/>
                  </a:schemeClr>
                </a:solidFill>
                <a:latin typeface="+mn-lt"/>
                <a:ea typeface="+mn-ea"/>
                <a:cs typeface="+mn-cs"/>
              </a:defRPr>
            </a:pPr>
            <a:r>
              <a:rPr lang="en-IN" dirty="0"/>
              <a:t>TN</a:t>
            </a:r>
            <a:r>
              <a:rPr lang="en-IN" baseline="0" dirty="0"/>
              <a:t> and TP values with optimization scenarios</a:t>
            </a:r>
            <a:endParaRPr lang="en-IN" dirty="0"/>
          </a:p>
        </c:rich>
      </c:tx>
      <c:layout>
        <c:manualLayout>
          <c:xMode val="edge"/>
          <c:yMode val="edge"/>
          <c:x val="0.22355169340463457"/>
          <c:y val="3.8314176245210725E-2"/>
        </c:manualLayout>
      </c:layout>
      <c:overlay val="0"/>
      <c:spPr>
        <a:noFill/>
        <a:ln>
          <a:noFill/>
        </a:ln>
        <a:effectLst/>
      </c:spPr>
      <c:txPr>
        <a:bodyPr rot="0" spcFirstLastPara="1" vertOverflow="ellipsis" vert="horz" wrap="square" anchor="ctr" anchorCtr="1"/>
        <a:lstStyle/>
        <a:p>
          <a:pPr>
            <a:defRPr sz="1800" b="1" i="0" u="none" strike="noStrike" kern="1200" cap="sm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BaseYear!$C$18</c:f>
              <c:strCache>
                <c:ptCount val="1"/>
                <c:pt idx="0">
                  <c:v>TN</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Lbls>
            <c:spPr>
              <a:noFill/>
              <a:ln>
                <a:noFill/>
              </a:ln>
              <a:effectLst/>
            </c:spPr>
            <c:txPr>
              <a:bodyPr rot="0" spcFirstLastPara="1" vertOverflow="ellipsis" vert="horz" wrap="square" anchor="ctr" anchorCtr="1"/>
              <a:lstStyle/>
              <a:p>
                <a:pPr>
                  <a:defRPr sz="900" b="0" i="0" u="none" strike="noStrike" kern="1200" cap="small"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BaseYear!$B$19:$B$23</c:f>
              <c:strCache>
                <c:ptCount val="5"/>
                <c:pt idx="0">
                  <c:v>Base Year</c:v>
                </c:pt>
                <c:pt idx="1">
                  <c:v>O1</c:v>
                </c:pt>
                <c:pt idx="2">
                  <c:v>O2</c:v>
                </c:pt>
                <c:pt idx="3">
                  <c:v>O3</c:v>
                </c:pt>
                <c:pt idx="4">
                  <c:v>O4</c:v>
                </c:pt>
              </c:strCache>
            </c:strRef>
          </c:cat>
          <c:val>
            <c:numRef>
              <c:f>BaseYear!$C$19:$C$23</c:f>
              <c:numCache>
                <c:formatCode>General</c:formatCode>
                <c:ptCount val="5"/>
                <c:pt idx="0">
                  <c:v>4130.7016999999996</c:v>
                </c:pt>
                <c:pt idx="1">
                  <c:v>3901.0990000000002</c:v>
                </c:pt>
                <c:pt idx="2">
                  <c:v>3728.0520999999999</c:v>
                </c:pt>
                <c:pt idx="3">
                  <c:v>3520.9380999999998</c:v>
                </c:pt>
                <c:pt idx="4">
                  <c:v>3313.8240999999998</c:v>
                </c:pt>
              </c:numCache>
            </c:numRef>
          </c:val>
          <c:extLst>
            <c:ext xmlns:c16="http://schemas.microsoft.com/office/drawing/2014/chart" uri="{C3380CC4-5D6E-409C-BE32-E72D297353CC}">
              <c16:uniqueId val="{00000000-3486-43C9-91B4-1E4BC305FD72}"/>
            </c:ext>
          </c:extLst>
        </c:ser>
        <c:ser>
          <c:idx val="1"/>
          <c:order val="1"/>
          <c:tx>
            <c:strRef>
              <c:f>BaseYear!$D$18</c:f>
              <c:strCache>
                <c:ptCount val="1"/>
                <c:pt idx="0">
                  <c:v>TP</c:v>
                </c:pt>
              </c:strCache>
            </c:strRef>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dLbls>
            <c:spPr>
              <a:noFill/>
              <a:ln>
                <a:noFill/>
              </a:ln>
              <a:effectLst/>
            </c:spPr>
            <c:txPr>
              <a:bodyPr rot="0" spcFirstLastPara="1" vertOverflow="ellipsis" vert="horz" wrap="square" anchor="ctr" anchorCtr="1"/>
              <a:lstStyle/>
              <a:p>
                <a:pPr>
                  <a:defRPr sz="900" b="0" i="0" u="none" strike="noStrike" kern="1200" cap="small"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BaseYear!$B$19:$B$23</c:f>
              <c:strCache>
                <c:ptCount val="5"/>
                <c:pt idx="0">
                  <c:v>Base Year</c:v>
                </c:pt>
                <c:pt idx="1">
                  <c:v>O1</c:v>
                </c:pt>
                <c:pt idx="2">
                  <c:v>O2</c:v>
                </c:pt>
                <c:pt idx="3">
                  <c:v>O3</c:v>
                </c:pt>
                <c:pt idx="4">
                  <c:v>O4</c:v>
                </c:pt>
              </c:strCache>
            </c:strRef>
          </c:cat>
          <c:val>
            <c:numRef>
              <c:f>BaseYear!$D$19:$D$23</c:f>
              <c:numCache>
                <c:formatCode>General</c:formatCode>
                <c:ptCount val="5"/>
                <c:pt idx="0">
                  <c:v>1679.2997</c:v>
                </c:pt>
                <c:pt idx="1">
                  <c:v>1595.34</c:v>
                </c:pt>
                <c:pt idx="2">
                  <c:v>1511.3699799999999</c:v>
                </c:pt>
                <c:pt idx="3">
                  <c:v>1422.1954499999999</c:v>
                </c:pt>
                <c:pt idx="4">
                  <c:v>1318.6384499999999</c:v>
                </c:pt>
              </c:numCache>
            </c:numRef>
          </c:val>
          <c:extLst>
            <c:ext xmlns:c16="http://schemas.microsoft.com/office/drawing/2014/chart" uri="{C3380CC4-5D6E-409C-BE32-E72D297353CC}">
              <c16:uniqueId val="{00000001-3486-43C9-91B4-1E4BC305FD72}"/>
            </c:ext>
          </c:extLst>
        </c:ser>
        <c:dLbls>
          <c:dLblPos val="outEnd"/>
          <c:showLegendKey val="0"/>
          <c:showVal val="1"/>
          <c:showCatName val="0"/>
          <c:showSerName val="0"/>
          <c:showPercent val="0"/>
          <c:showBubbleSize val="0"/>
        </c:dLbls>
        <c:gapWidth val="164"/>
        <c:overlap val="-22"/>
        <c:axId val="1839898336"/>
        <c:axId val="1839903616"/>
      </c:barChart>
      <c:catAx>
        <c:axId val="1839898336"/>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cap="small" baseline="0">
                <a:solidFill>
                  <a:schemeClr val="tx1">
                    <a:lumMod val="65000"/>
                    <a:lumOff val="35000"/>
                  </a:schemeClr>
                </a:solidFill>
                <a:latin typeface="+mn-lt"/>
                <a:ea typeface="+mn-ea"/>
                <a:cs typeface="+mn-cs"/>
              </a:defRPr>
            </a:pPr>
            <a:endParaRPr lang="en-US"/>
          </a:p>
        </c:txPr>
        <c:crossAx val="1839903616"/>
        <c:crosses val="autoZero"/>
        <c:auto val="1"/>
        <c:lblAlgn val="ctr"/>
        <c:lblOffset val="100"/>
        <c:noMultiLvlLbl val="0"/>
      </c:catAx>
      <c:valAx>
        <c:axId val="183990361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cap="small" baseline="0">
                <a:solidFill>
                  <a:schemeClr val="tx1">
                    <a:lumMod val="65000"/>
                    <a:lumOff val="35000"/>
                  </a:schemeClr>
                </a:solidFill>
                <a:latin typeface="+mn-lt"/>
                <a:ea typeface="+mn-ea"/>
                <a:cs typeface="+mn-cs"/>
              </a:defRPr>
            </a:pPr>
            <a:endParaRPr lang="en-US"/>
          </a:p>
        </c:txPr>
        <c:crossAx val="183989833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cap="small"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cap="small" baseline="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US"/>
        </a:p>
      </c:txPr>
    </c:title>
    <c:autoTitleDeleted val="0"/>
    <c:plotArea>
      <c:layout/>
      <c:lineChart>
        <c:grouping val="stacked"/>
        <c:varyColors val="0"/>
        <c:ser>
          <c:idx val="0"/>
          <c:order val="0"/>
          <c:tx>
            <c:strRef>
              <c:f>BaseYear!$H$11</c:f>
              <c:strCache>
                <c:ptCount val="1"/>
                <c:pt idx="0">
                  <c:v>Economic Benefit</c:v>
                </c:pt>
              </c:strCache>
            </c:strRef>
          </c:tx>
          <c:spPr>
            <a:ln w="22225" cap="rnd">
              <a:solidFill>
                <a:schemeClr val="accent4"/>
              </a:solidFill>
            </a:ln>
            <a:effectLst>
              <a:glow rad="139700">
                <a:schemeClr val="accent4">
                  <a:satMod val="175000"/>
                  <a:alpha val="14000"/>
                </a:schemeClr>
              </a:glo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BaseYear!$G$12:$G$16</c:f>
              <c:strCache>
                <c:ptCount val="5"/>
                <c:pt idx="0">
                  <c:v>Base Year</c:v>
                </c:pt>
                <c:pt idx="1">
                  <c:v>O1</c:v>
                </c:pt>
                <c:pt idx="2">
                  <c:v>O2</c:v>
                </c:pt>
                <c:pt idx="3">
                  <c:v>O3</c:v>
                </c:pt>
                <c:pt idx="4">
                  <c:v>O4</c:v>
                </c:pt>
              </c:strCache>
            </c:strRef>
          </c:cat>
          <c:val>
            <c:numRef>
              <c:f>BaseYear!$H$12:$H$16</c:f>
              <c:numCache>
                <c:formatCode>General</c:formatCode>
                <c:ptCount val="5"/>
                <c:pt idx="0">
                  <c:v>79917.231209999998</c:v>
                </c:pt>
                <c:pt idx="1">
                  <c:v>78948.4712</c:v>
                </c:pt>
                <c:pt idx="2">
                  <c:v>77454.358309999996</c:v>
                </c:pt>
                <c:pt idx="3">
                  <c:v>75794.013680000004</c:v>
                </c:pt>
                <c:pt idx="4">
                  <c:v>73971.410480000006</c:v>
                </c:pt>
              </c:numCache>
            </c:numRef>
          </c:val>
          <c:smooth val="0"/>
          <c:extLst>
            <c:ext xmlns:c16="http://schemas.microsoft.com/office/drawing/2014/chart" uri="{C3380CC4-5D6E-409C-BE32-E72D297353CC}">
              <c16:uniqueId val="{00000000-54D6-445D-8EB7-D3226806B651}"/>
            </c:ext>
          </c:extLst>
        </c:ser>
        <c:dLbls>
          <c:dLblPos val="ctr"/>
          <c:showLegendKey val="0"/>
          <c:showVal val="1"/>
          <c:showCatName val="0"/>
          <c:showSerName val="0"/>
          <c:showPercent val="0"/>
          <c:showBubbleSize val="0"/>
        </c:dLbls>
        <c:smooth val="0"/>
        <c:axId val="1839900256"/>
        <c:axId val="1839905056"/>
      </c:lineChart>
      <c:catAx>
        <c:axId val="1839900256"/>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839905056"/>
        <c:crosses val="autoZero"/>
        <c:auto val="1"/>
        <c:lblAlgn val="ctr"/>
        <c:lblOffset val="100"/>
        <c:noMultiLvlLbl val="0"/>
      </c:catAx>
      <c:valAx>
        <c:axId val="1839905056"/>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839900256"/>
        <c:crosses val="autoZero"/>
        <c:crossBetween val="between"/>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7">
  <a:schemeClr val="accent4"/>
</cs:colorStyle>
</file>

<file path=ppt/charts/style1.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PhpPresentationReaderPpt2007BkglFgaAh"/><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hpPresentationReaderPpt2007BkgbPhIFh"/><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hpPresentationReaderPpt2007BkgDCAIHh"/><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hpPresentationReaderPpt2007BkgBbIkIh"/><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hpPresentationReaderPpt2007BkgLPLJLh"/><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hpPresentationReaderPpt2007BkgbgeGOh"/><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hpPresentationReaderPpt2007BkgPOEkah"/><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hpPresentationReaderPpt2007BkgHEojch"/><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hpPresentationReaderPpt2007BkgPoNjfh"/><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hpPresentationReaderPpt2007BkglDCBih"/><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hpPresentationReaderPpt2007BkgBbIkIh"/><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hpPresentationReaderPpt2007BkgbgeGOh"/><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AND_BODY">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APTION_ONLY_3">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_TITLE_AND_DESCRIPTION_1_1_3">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_1_1">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_TITLE_AND_DESCRIPTION_1">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_TITLE_AND_DESCRIPTION_1_1">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APTION_ONLY_1">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APTION_ONLY_1_1_1">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_TITLE_AND_DESCRIPTION_1_3">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_1_1_2_1">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1633"/>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421992152" r:id="rId1"/>
    <p:sldLayoutId id="2421992153" r:id="rId2"/>
    <p:sldLayoutId id="2421992154" r:id="rId3"/>
    <p:sldLayoutId id="2421992155" r:id="rId4"/>
    <p:sldLayoutId id="2421992156" r:id="rId5"/>
    <p:sldLayoutId id="2421992157" r:id="rId6"/>
    <p:sldLayoutId id="2421992158" r:id="rId7"/>
    <p:sldLayoutId id="2421992159" r:id="rId8"/>
    <p:sldLayoutId id="2421992160" r:id="rId9"/>
    <p:sldLayoutId id="2421992161" r:id="rId10"/>
    <p:sldLayoutId id="2421992162" r:id="rId11"/>
    <p:sldLayoutId id="2421992163" r:id="rId12"/>
  </p:sldLayoutIdLst>
  <p:txStyles>
    <p:titleStyle>
      <a:defPPr algn="l">
        <a:defRPr kern="1200"/>
      </a:defPPr>
      <a:lvl1pPr algn="l">
        <a:defRPr sz="1400" kern="1200"/>
      </a:lvl1pPr>
      <a:lvl2pPr algn="l">
        <a:defRPr sz="1400" kern="1200"/>
      </a:lvl2pPr>
      <a:lvl3pPr algn="l">
        <a:defRPr sz="1400" kern="1200"/>
      </a:lvl3pPr>
      <a:lvl4pPr algn="l">
        <a:defRPr sz="1400" kern="1200"/>
      </a:lvl4pPr>
      <a:lvl5pPr algn="l">
        <a:defRPr sz="1400" kern="1200"/>
      </a:lvl5pPr>
      <a:lvl6pPr algn="l">
        <a:defRPr sz="1400" kern="1200"/>
      </a:lvl6pPr>
      <a:lvl7pPr algn="l">
        <a:defRPr sz="1400" kern="1200"/>
      </a:lvl7pPr>
      <a:lvl8pPr algn="l">
        <a:defRPr sz="1400" kern="1200"/>
      </a:lvl8pPr>
      <a:lvl9pPr algn="l">
        <a:defRPr sz="1400" kern="1200"/>
      </a:lvl9pPr>
      <a:extLst/>
    </p:titleStyle>
    <p:bodyStyle>
      <a:defPPr algn="l">
        <a:defRPr kern="1200"/>
      </a:defPPr>
      <a:lvl1pPr algn="l">
        <a:defRPr sz="1400" kern="1200"/>
      </a:lvl1pPr>
      <a:lvl2pPr algn="l">
        <a:defRPr sz="1400" kern="1200"/>
      </a:lvl2pPr>
      <a:lvl3pPr algn="l">
        <a:defRPr sz="1400" kern="1200"/>
      </a:lvl3pPr>
      <a:lvl4pPr algn="l">
        <a:defRPr sz="1400" kern="1200"/>
      </a:lvl4pPr>
      <a:lvl5pPr algn="l">
        <a:defRPr sz="1400" kern="1200"/>
      </a:lvl5pPr>
      <a:lvl6pPr algn="l">
        <a:defRPr sz="1400" kern="1200"/>
      </a:lvl6pPr>
      <a:lvl7pPr algn="l">
        <a:defRPr sz="1400" kern="1200"/>
      </a:lvl7pPr>
      <a:lvl8pPr algn="l">
        <a:defRPr sz="1400" kern="1200"/>
      </a:lvl8pPr>
      <a:lvl9pPr algn="l">
        <a:defRPr sz="1400" kern="1200"/>
      </a:lvl9pPr>
      <a:extLst/>
    </p:bodyStyle>
    <p:otherStyle>
      <a:defPPr algn="l">
        <a:defRPr kern="1200"/>
      </a:defPPr>
      <a:lvl1pPr algn="l">
        <a:defRPr sz="1400" kern="1200"/>
      </a:lvl1pPr>
      <a:lvl2pPr algn="l">
        <a:defRPr sz="1400" kern="1200"/>
      </a:lvl2pPr>
      <a:lvl3pPr algn="l">
        <a:defRPr sz="1400" kern="1200"/>
      </a:lvl3pPr>
      <a:lvl4pPr algn="l">
        <a:defRPr sz="1400" kern="1200"/>
      </a:lvl4pPr>
      <a:lvl5pPr algn="l">
        <a:defRPr sz="1400" kern="1200"/>
      </a:lvl5pPr>
      <a:lvl6pPr algn="l">
        <a:defRPr sz="1400" kern="1200"/>
      </a:lvl6pPr>
      <a:lvl7pPr algn="l">
        <a:defRPr sz="1400" kern="1200"/>
      </a:lvl7pPr>
      <a:lvl8pPr algn="l">
        <a:defRPr sz="1400" kern="1200"/>
      </a:lvl8pPr>
      <a:lvl9pPr algn="l">
        <a:defRPr sz="1400" kern="1200"/>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543050"/>
          <a:ext cx="8229600" cy="3257550"/>
          <a:chOff x="914400" y="1543050"/>
          <a:chExt cx="8229600" cy="3257550"/>
        </a:xfrm>
      </p:grpSpPr>
      <p:sp>
        <p:nvSpPr>
          <p:cNvPr id="2" name="TextBox 1"/>
          <p:cNvSpPr txBox="1"/>
          <p:nvPr/>
        </p:nvSpPr>
        <p:spPr>
          <a:xfrm>
            <a:off x="1763688" y="411510"/>
            <a:ext cx="5486400" cy="1714500"/>
          </a:xfrm>
          <a:prstGeom prst="rect">
            <a:avLst/>
          </a:prstGeom>
          <a:noFill/>
        </p:spPr>
        <p:txBody>
          <a:bodyPr vert="horz" lIns="91440" tIns="45720" rIns="91440" bIns="45720" rtlCol="0" anchor="t" anchorCtr="0">
            <a:spAutoFit/>
          </a:bodyPr>
          <a:lstStyle/>
          <a:p>
            <a:pPr marL="0" marR="0" lvl="0" indent="0" algn="ctr" rtl="0" fontAlgn="t">
              <a:lnSpc>
                <a:spcPct val="100000"/>
              </a:lnSpc>
              <a:spcBef>
                <a:spcPts val="0"/>
              </a:spcBef>
              <a:spcAft>
                <a:spcPts val="0"/>
              </a:spcAft>
            </a:pPr>
            <a:r>
              <a:rPr lang="en-US" sz="4000" b="1" u="none" strike="noStrike" cap="none" spc="0" dirty="0">
                <a:solidFill>
                  <a:srgbClr val="FFFFFF">
                    <a:alpha val="100000"/>
                  </a:srgbClr>
                </a:solidFill>
                <a:latin typeface="Calibri"/>
              </a:rPr>
              <a:t>Analyzing Non-Point Source Pollution in Delhi</a:t>
            </a:r>
          </a:p>
        </p:txBody>
      </p:sp>
      <p:sp>
        <p:nvSpPr>
          <p:cNvPr id="3" name="TextBox 2"/>
          <p:cNvSpPr txBox="1"/>
          <p:nvPr/>
        </p:nvSpPr>
        <p:spPr>
          <a:xfrm>
            <a:off x="914400" y="1707654"/>
            <a:ext cx="7315200" cy="571500"/>
          </a:xfrm>
          <a:prstGeom prst="rect">
            <a:avLst/>
          </a:prstGeom>
          <a:noFill/>
        </p:spPr>
        <p:txBody>
          <a:bodyPr vert="horz" lIns="91440" tIns="45720" rIns="91440" bIns="45720" rtlCol="0" anchor="t" anchorCtr="0">
            <a:spAutoFit/>
          </a:bodyPr>
          <a:lstStyle/>
          <a:p>
            <a:pPr marL="0" marR="0" lvl="0" indent="0" algn="ctr" rtl="0" fontAlgn="t">
              <a:lnSpc>
                <a:spcPct val="100000"/>
              </a:lnSpc>
              <a:spcBef>
                <a:spcPts val="0"/>
              </a:spcBef>
              <a:spcAft>
                <a:spcPts val="0"/>
              </a:spcAft>
            </a:pPr>
            <a:r>
              <a:rPr lang="en-US" sz="2000" b="1" u="none" strike="noStrike" cap="none" spc="0" dirty="0">
                <a:solidFill>
                  <a:srgbClr val="FFAB40">
                    <a:alpha val="100000"/>
                  </a:srgbClr>
                </a:solidFill>
                <a:latin typeface="Calibri"/>
              </a:rPr>
              <a:t>Using Export Coefficient Model with Linear and Multi-objective Programming</a:t>
            </a:r>
          </a:p>
        </p:txBody>
      </p:sp>
      <p:sp>
        <p:nvSpPr>
          <p:cNvPr id="4" name="TextBox 3">
            <a:extLst>
              <a:ext uri="{FF2B5EF4-FFF2-40B4-BE49-F238E27FC236}">
                <a16:creationId xmlns:a16="http://schemas.microsoft.com/office/drawing/2014/main" id="{BC8736DA-0CDA-8704-47FA-DB78E0889FF9}"/>
              </a:ext>
            </a:extLst>
          </p:cNvPr>
          <p:cNvSpPr txBox="1"/>
          <p:nvPr/>
        </p:nvSpPr>
        <p:spPr>
          <a:xfrm>
            <a:off x="2267745" y="2847195"/>
            <a:ext cx="1872208" cy="738664"/>
          </a:xfrm>
          <a:prstGeom prst="rect">
            <a:avLst/>
          </a:prstGeom>
          <a:noFill/>
        </p:spPr>
        <p:txBody>
          <a:bodyPr wrap="square" rtlCol="0">
            <a:spAutoFit/>
          </a:bodyPr>
          <a:lstStyle/>
          <a:p>
            <a:r>
              <a:rPr lang="en-IN" sz="1400" dirty="0">
                <a:solidFill>
                  <a:schemeClr val="bg1"/>
                </a:solidFill>
              </a:rPr>
              <a:t>Shreyash Bharati</a:t>
            </a:r>
          </a:p>
          <a:p>
            <a:r>
              <a:rPr lang="en-IN" sz="1400" dirty="0">
                <a:solidFill>
                  <a:schemeClr val="bg1"/>
                </a:solidFill>
              </a:rPr>
              <a:t>220102094</a:t>
            </a:r>
          </a:p>
          <a:p>
            <a:r>
              <a:rPr lang="en-IN" sz="1400" dirty="0">
                <a:solidFill>
                  <a:schemeClr val="bg1"/>
                </a:solidFill>
              </a:rPr>
              <a:t>b.Shreyash@iitg.ac.in</a:t>
            </a:r>
          </a:p>
        </p:txBody>
      </p:sp>
      <p:sp>
        <p:nvSpPr>
          <p:cNvPr id="5" name="TextBox 4">
            <a:extLst>
              <a:ext uri="{FF2B5EF4-FFF2-40B4-BE49-F238E27FC236}">
                <a16:creationId xmlns:a16="http://schemas.microsoft.com/office/drawing/2014/main" id="{2CAACF7C-9DEA-2F4D-A1B3-56DED966E042}"/>
              </a:ext>
            </a:extLst>
          </p:cNvPr>
          <p:cNvSpPr txBox="1"/>
          <p:nvPr/>
        </p:nvSpPr>
        <p:spPr>
          <a:xfrm>
            <a:off x="5004049" y="2854865"/>
            <a:ext cx="1728192" cy="738664"/>
          </a:xfrm>
          <a:prstGeom prst="rect">
            <a:avLst/>
          </a:prstGeom>
          <a:noFill/>
        </p:spPr>
        <p:txBody>
          <a:bodyPr wrap="square" rtlCol="0">
            <a:spAutoFit/>
          </a:bodyPr>
          <a:lstStyle/>
          <a:p>
            <a:r>
              <a:rPr lang="en-IN" sz="1400" dirty="0">
                <a:solidFill>
                  <a:schemeClr val="bg1"/>
                </a:solidFill>
              </a:rPr>
              <a:t>Amaan Zaidi</a:t>
            </a:r>
          </a:p>
          <a:p>
            <a:r>
              <a:rPr lang="en-IN" sz="1400" dirty="0">
                <a:solidFill>
                  <a:schemeClr val="bg1"/>
                </a:solidFill>
              </a:rPr>
              <a:t>220102007</a:t>
            </a:r>
          </a:p>
          <a:p>
            <a:r>
              <a:rPr lang="en-IN" sz="1400" dirty="0">
                <a:solidFill>
                  <a:schemeClr val="bg1"/>
                </a:solidFill>
              </a:rPr>
              <a:t>z.amaan@iitg.ac.in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7553325"/>
          <a:chOff x="914400" y="1028700"/>
          <a:chExt cx="8229600" cy="7553325"/>
        </a:xfrm>
      </p:grpSpPr>
      <p:sp>
        <p:nvSpPr>
          <p:cNvPr id="2" name="TextBox 1"/>
          <p:cNvSpPr txBox="1"/>
          <p:nvPr/>
        </p:nvSpPr>
        <p:spPr>
          <a:xfrm>
            <a:off x="1691680" y="51470"/>
            <a:ext cx="5486400" cy="571500"/>
          </a:xfrm>
          <a:prstGeom prst="rect">
            <a:avLst/>
          </a:prstGeom>
          <a:noFill/>
        </p:spPr>
        <p:txBody>
          <a:bodyPr vert="horz" lIns="91440" tIns="45720" rIns="91440" bIns="45720" rtlCol="0" anchor="t" anchorCtr="0">
            <a:spAutoFit/>
          </a:bodyPr>
          <a:lstStyle/>
          <a:p>
            <a:pPr marL="0" marR="0" lvl="0" indent="0" algn="ctr" rtl="0" fontAlgn="t">
              <a:lnSpc>
                <a:spcPct val="100000"/>
              </a:lnSpc>
              <a:spcBef>
                <a:spcPts val="0"/>
              </a:spcBef>
              <a:spcAft>
                <a:spcPts val="0"/>
              </a:spcAft>
            </a:pPr>
            <a:r>
              <a:rPr lang="en-US" sz="4000" b="1" u="none" strike="noStrike" cap="none" spc="0" dirty="0">
                <a:solidFill>
                  <a:srgbClr val="FFAB40">
                    <a:alpha val="100000"/>
                  </a:srgbClr>
                </a:solidFill>
                <a:latin typeface="Calibri"/>
              </a:rPr>
              <a:t>Introduction</a:t>
            </a:r>
          </a:p>
        </p:txBody>
      </p:sp>
      <p:sp>
        <p:nvSpPr>
          <p:cNvPr id="4" name="TextBox 3">
            <a:extLst>
              <a:ext uri="{FF2B5EF4-FFF2-40B4-BE49-F238E27FC236}">
                <a16:creationId xmlns:a16="http://schemas.microsoft.com/office/drawing/2014/main" id="{87BBD280-D785-42A0-E45A-D663B70A1E9B}"/>
              </a:ext>
            </a:extLst>
          </p:cNvPr>
          <p:cNvSpPr txBox="1"/>
          <p:nvPr/>
        </p:nvSpPr>
        <p:spPr>
          <a:xfrm>
            <a:off x="539552" y="987574"/>
            <a:ext cx="7632848" cy="3754874"/>
          </a:xfrm>
          <a:prstGeom prst="rect">
            <a:avLst/>
          </a:prstGeom>
          <a:noFill/>
        </p:spPr>
        <p:txBody>
          <a:bodyPr wrap="square" rtlCol="0">
            <a:spAutoFit/>
          </a:bodyPr>
          <a:lstStyle/>
          <a:p>
            <a:pPr marL="285750" indent="-285750">
              <a:buFont typeface="Arial" panose="020B0604020202020204" pitchFamily="34" charset="0"/>
              <a:buChar char="•"/>
            </a:pPr>
            <a:r>
              <a:rPr lang="en-US" sz="1700" dirty="0">
                <a:solidFill>
                  <a:schemeClr val="bg1"/>
                </a:solidFill>
              </a:rPr>
              <a:t>Non-point source (NPS) pollution refers to the diffuse contamination of water bodies resulting from multiple, scattered sources rather than a single, identifiable origin. Unlike point source pollution, which can be traced to a specific location such as a factory or sewage pipe, NPS pollution originates from widespread activities like agricultural runoff, urban stormwater, and sediment erosion. </a:t>
            </a:r>
          </a:p>
          <a:p>
            <a:pPr marL="285750" indent="-285750">
              <a:buFont typeface="Arial" panose="020B0604020202020204" pitchFamily="34" charset="0"/>
              <a:buChar char="•"/>
            </a:pPr>
            <a:r>
              <a:rPr lang="en-US" sz="1700" dirty="0">
                <a:solidFill>
                  <a:schemeClr val="bg1"/>
                </a:solidFill>
              </a:rPr>
              <a:t>Rainfall or snowmelt often carries pollutants such as fertilizers, pesticides, oil, sediment, and nutrients like nitrogen and phosphorus into rivers, lakes, and coastal waters, leading to environmental degradation. This type of pollution is challenging to monitor and manage because it does not originate from a singular source and is influenced by weather, land use practices, and geographical conditions. </a:t>
            </a:r>
          </a:p>
          <a:p>
            <a:pPr marL="285750" indent="-285750">
              <a:buFont typeface="Arial" panose="020B0604020202020204" pitchFamily="34" charset="0"/>
              <a:buChar char="•"/>
            </a:pPr>
            <a:r>
              <a:rPr lang="en-US" sz="1700" dirty="0">
                <a:solidFill>
                  <a:schemeClr val="bg1"/>
                </a:solidFill>
              </a:rPr>
              <a:t>Controlling NPS pollution requires integrated approaches like sustainable land management, improved agricultural practices, and public awareness to mitigate its far-reaching impacts on ecosystems and human health.</a:t>
            </a:r>
            <a:endParaRPr lang="en-IN" sz="17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629025"/>
          <a:chOff x="914400" y="1028700"/>
          <a:chExt cx="8229600" cy="3629025"/>
        </a:xfrm>
      </p:grpSpPr>
      <p:sp>
        <p:nvSpPr>
          <p:cNvPr id="2" name="TextBox 1"/>
          <p:cNvSpPr txBox="1"/>
          <p:nvPr/>
        </p:nvSpPr>
        <p:spPr>
          <a:xfrm>
            <a:off x="914400" y="411510"/>
            <a:ext cx="7315200" cy="40005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FFAB40">
                    <a:alpha val="100000"/>
                  </a:srgbClr>
                </a:solidFill>
                <a:latin typeface="Calibri"/>
              </a:rPr>
              <a:t>Research Objectives</a:t>
            </a:r>
          </a:p>
        </p:txBody>
      </p:sp>
      <p:sp>
        <p:nvSpPr>
          <p:cNvPr id="3" name="TextBox 2"/>
          <p:cNvSpPr txBox="1"/>
          <p:nvPr/>
        </p:nvSpPr>
        <p:spPr>
          <a:xfrm>
            <a:off x="827584" y="1059582"/>
            <a:ext cx="7315200" cy="1015663"/>
          </a:xfrm>
          <a:prstGeom prst="rect">
            <a:avLst/>
          </a:prstGeom>
          <a:noFill/>
        </p:spPr>
        <p:txBody>
          <a:bodyPr vert="horz" lIns="91440" tIns="45720" rIns="91440" bIns="45720" rtlCol="0" anchorCtr="0">
            <a:spAutoFit/>
          </a:bodyPr>
          <a:lstStyle/>
          <a:p>
            <a:pPr marL="342900" marR="0" lvl="0" indent="-342900" algn="l" rtl="0" fontAlgn="base">
              <a:lnSpc>
                <a:spcPct val="100000"/>
              </a:lnSpc>
              <a:spcBef>
                <a:spcPts val="0"/>
              </a:spcBef>
              <a:spcAft>
                <a:spcPts val="0"/>
              </a:spcAft>
              <a:buFont typeface="Arial" panose="020B0604020202020204" pitchFamily="34" charset="0"/>
              <a:buChar char="•"/>
            </a:pPr>
            <a:r>
              <a:rPr lang="en-US" sz="2000" u="none" strike="noStrike" cap="none" spc="0" dirty="0">
                <a:solidFill>
                  <a:srgbClr val="FFFFFF">
                    <a:alpha val="100000"/>
                  </a:srgbClr>
                </a:solidFill>
                <a:latin typeface="Calibri"/>
              </a:rPr>
              <a:t>Develop a land-use optimization model to reduce NPS pollution.
Employ empirical models to estimate TN and TP loads.
Offer decision-makers alternatives for land-use adjustments.</a:t>
            </a:r>
          </a:p>
        </p:txBody>
      </p:sp>
      <p:sp>
        <p:nvSpPr>
          <p:cNvPr id="4" name="TextBox 3"/>
          <p:cNvSpPr txBox="1"/>
          <p:nvPr/>
        </p:nvSpPr>
        <p:spPr>
          <a:xfrm>
            <a:off x="914400" y="2211710"/>
            <a:ext cx="7315200" cy="52322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u="none" strike="noStrike" cap="none" spc="0" dirty="0">
                <a:solidFill>
                  <a:srgbClr val="FFAB40">
                    <a:alpha val="100000"/>
                  </a:srgbClr>
                </a:solidFill>
                <a:latin typeface="Calibri"/>
              </a:rPr>
              <a:t>Methods</a:t>
            </a:r>
            <a:r>
              <a:rPr lang="en-US" sz="2800" b="1" u="none" strike="noStrike" cap="none" spc="0" dirty="0">
                <a:solidFill>
                  <a:srgbClr val="FFAB40">
                    <a:alpha val="100000"/>
                  </a:srgbClr>
                </a:solidFill>
                <a:latin typeface="Calibri"/>
              </a:rPr>
              <a:t> </a:t>
            </a:r>
            <a:r>
              <a:rPr lang="en-US" sz="2800" u="none" strike="noStrike" cap="none" spc="0" dirty="0">
                <a:solidFill>
                  <a:srgbClr val="FFAB40">
                    <a:alpha val="100000"/>
                  </a:srgbClr>
                </a:solidFill>
                <a:latin typeface="Calibri"/>
              </a:rPr>
              <a:t>Used</a:t>
            </a:r>
          </a:p>
        </p:txBody>
      </p:sp>
      <p:sp>
        <p:nvSpPr>
          <p:cNvPr id="5" name="TextBox 4"/>
          <p:cNvSpPr txBox="1"/>
          <p:nvPr/>
        </p:nvSpPr>
        <p:spPr>
          <a:xfrm>
            <a:off x="827584" y="2748225"/>
            <a:ext cx="7315200" cy="1631216"/>
          </a:xfrm>
          <a:prstGeom prst="rect">
            <a:avLst/>
          </a:prstGeom>
          <a:noFill/>
        </p:spPr>
        <p:txBody>
          <a:bodyPr vert="horz" lIns="91440" tIns="45720" rIns="91440" bIns="45720" rtlCol="0" anchorCtr="0">
            <a:spAutoFit/>
          </a:bodyPr>
          <a:lstStyle/>
          <a:p>
            <a:pPr marL="342900" marR="0" lvl="0" indent="-342900" algn="l" rtl="0" fontAlgn="base">
              <a:lnSpc>
                <a:spcPct val="100000"/>
              </a:lnSpc>
              <a:spcBef>
                <a:spcPts val="0"/>
              </a:spcBef>
              <a:spcAft>
                <a:spcPts val="0"/>
              </a:spcAft>
              <a:buFont typeface="Arial" panose="020B0604020202020204" pitchFamily="34" charset="0"/>
              <a:buChar char="•"/>
            </a:pPr>
            <a:r>
              <a:rPr lang="en-US" sz="2000" u="none" strike="noStrike" cap="none" spc="0" dirty="0">
                <a:solidFill>
                  <a:srgbClr val="FFFFFF">
                    <a:alpha val="100000"/>
                  </a:srgbClr>
                </a:solidFill>
                <a:latin typeface="Calibri"/>
              </a:rPr>
              <a:t>Export Coefficient Model (ECM) applied to estimate TN and TP loads.
Linear programming model used for effective land-use planning.
Multi-objective optimization for balancing economic return and pollution reduction.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A7AD85-61D0-B8F2-2CFB-3BE4BF606390}"/>
              </a:ext>
            </a:extLst>
          </p:cNvPr>
          <p:cNvSpPr txBox="1"/>
          <p:nvPr/>
        </p:nvSpPr>
        <p:spPr>
          <a:xfrm>
            <a:off x="611560" y="19067"/>
            <a:ext cx="3888432" cy="523220"/>
          </a:xfrm>
          <a:prstGeom prst="rect">
            <a:avLst/>
          </a:prstGeom>
          <a:noFill/>
        </p:spPr>
        <p:txBody>
          <a:bodyPr wrap="square" rtlCol="0">
            <a:spAutoFit/>
          </a:bodyPr>
          <a:lstStyle/>
          <a:p>
            <a:r>
              <a:rPr lang="en-IN" sz="2800" b="1" dirty="0">
                <a:solidFill>
                  <a:schemeClr val="accent1">
                    <a:lumMod val="75000"/>
                  </a:schemeClr>
                </a:solidFill>
              </a:rPr>
              <a:t>Export Coefficient Model</a:t>
            </a:r>
          </a:p>
        </p:txBody>
      </p:sp>
      <p:pic>
        <p:nvPicPr>
          <p:cNvPr id="4" name="Picture 3">
            <a:extLst>
              <a:ext uri="{FF2B5EF4-FFF2-40B4-BE49-F238E27FC236}">
                <a16:creationId xmlns:a16="http://schemas.microsoft.com/office/drawing/2014/main" id="{B7452E3B-CD57-9D47-E003-6888AF374298}"/>
              </a:ext>
            </a:extLst>
          </p:cNvPr>
          <p:cNvPicPr>
            <a:picLocks noChangeAspect="1"/>
          </p:cNvPicPr>
          <p:nvPr/>
        </p:nvPicPr>
        <p:blipFill>
          <a:blip r:embed="rId2"/>
          <a:stretch>
            <a:fillRect/>
          </a:stretch>
        </p:blipFill>
        <p:spPr>
          <a:xfrm>
            <a:off x="1072739" y="1085171"/>
            <a:ext cx="1699061" cy="446231"/>
          </a:xfrm>
          <a:prstGeom prst="rect">
            <a:avLst/>
          </a:prstGeom>
        </p:spPr>
      </p:pic>
      <p:sp>
        <p:nvSpPr>
          <p:cNvPr id="6" name="TextBox 5">
            <a:extLst>
              <a:ext uri="{FF2B5EF4-FFF2-40B4-BE49-F238E27FC236}">
                <a16:creationId xmlns:a16="http://schemas.microsoft.com/office/drawing/2014/main" id="{69FA92B6-0F7A-3B9D-E789-2953408AEBF1}"/>
              </a:ext>
            </a:extLst>
          </p:cNvPr>
          <p:cNvSpPr txBox="1"/>
          <p:nvPr/>
        </p:nvSpPr>
        <p:spPr>
          <a:xfrm>
            <a:off x="758137" y="423406"/>
            <a:ext cx="6336704" cy="738664"/>
          </a:xfrm>
          <a:prstGeom prst="rect">
            <a:avLst/>
          </a:prstGeom>
          <a:noFill/>
        </p:spPr>
        <p:txBody>
          <a:bodyPr wrap="square" rtlCol="0">
            <a:spAutoFit/>
          </a:bodyPr>
          <a:lstStyle/>
          <a:p>
            <a:pPr marL="228600" indent="-228600">
              <a:buFont typeface="+mj-lt"/>
              <a:buAutoNum type="arabicPeriod"/>
            </a:pPr>
            <a:r>
              <a:rPr lang="en-IN" sz="1400" dirty="0">
                <a:solidFill>
                  <a:schemeClr val="bg1"/>
                </a:solidFill>
              </a:rPr>
              <a:t>ECM can be used to estimate the total TN and TP loads produced due to NPS Pollution. Here we use export coefficients to estimate the loads generated by each land-use type.</a:t>
            </a:r>
            <a:endParaRPr lang="en-IN" sz="1400" dirty="0"/>
          </a:p>
        </p:txBody>
      </p:sp>
      <p:sp>
        <p:nvSpPr>
          <p:cNvPr id="7" name="TextBox 6">
            <a:extLst>
              <a:ext uri="{FF2B5EF4-FFF2-40B4-BE49-F238E27FC236}">
                <a16:creationId xmlns:a16="http://schemas.microsoft.com/office/drawing/2014/main" id="{C5914B63-06B2-4B26-771E-ED65768366EC}"/>
              </a:ext>
            </a:extLst>
          </p:cNvPr>
          <p:cNvSpPr txBox="1"/>
          <p:nvPr/>
        </p:nvSpPr>
        <p:spPr>
          <a:xfrm>
            <a:off x="935596" y="1531402"/>
            <a:ext cx="7020780" cy="954107"/>
          </a:xfrm>
          <a:prstGeom prst="rect">
            <a:avLst/>
          </a:prstGeom>
          <a:noFill/>
        </p:spPr>
        <p:txBody>
          <a:bodyPr wrap="square" rtlCol="0">
            <a:spAutoFit/>
          </a:bodyPr>
          <a:lstStyle/>
          <a:p>
            <a:r>
              <a:rPr lang="en-IN" sz="1400" dirty="0">
                <a:solidFill>
                  <a:schemeClr val="bg1"/>
                </a:solidFill>
              </a:rPr>
              <a:t>Here, L denotes the total pollution load while Ei and Ai denote the export coefficient and area for i-th land use type respectively.</a:t>
            </a:r>
          </a:p>
          <a:p>
            <a:r>
              <a:rPr lang="en-IN" sz="1400" dirty="0">
                <a:solidFill>
                  <a:schemeClr val="bg1"/>
                </a:solidFill>
              </a:rPr>
              <a:t>We have used a linear programming model to estimate the areas of various land-use types .The linear programming model is as specified below : -</a:t>
            </a:r>
          </a:p>
        </p:txBody>
      </p:sp>
      <p:pic>
        <p:nvPicPr>
          <p:cNvPr id="9" name="Picture 8">
            <a:extLst>
              <a:ext uri="{FF2B5EF4-FFF2-40B4-BE49-F238E27FC236}">
                <a16:creationId xmlns:a16="http://schemas.microsoft.com/office/drawing/2014/main" id="{3E906F95-FB86-C153-4FBB-314A4A0958EC}"/>
              </a:ext>
            </a:extLst>
          </p:cNvPr>
          <p:cNvPicPr>
            <a:picLocks noChangeAspect="1"/>
          </p:cNvPicPr>
          <p:nvPr/>
        </p:nvPicPr>
        <p:blipFill>
          <a:blip r:embed="rId3"/>
          <a:stretch>
            <a:fillRect/>
          </a:stretch>
        </p:blipFill>
        <p:spPr>
          <a:xfrm>
            <a:off x="1072739" y="2499741"/>
            <a:ext cx="3496014" cy="1051871"/>
          </a:xfrm>
          <a:prstGeom prst="rect">
            <a:avLst/>
          </a:prstGeom>
        </p:spPr>
      </p:pic>
      <p:sp>
        <p:nvSpPr>
          <p:cNvPr id="10" name="TextBox 9">
            <a:extLst>
              <a:ext uri="{FF2B5EF4-FFF2-40B4-BE49-F238E27FC236}">
                <a16:creationId xmlns:a16="http://schemas.microsoft.com/office/drawing/2014/main" id="{2D1BEA0B-42CA-83EA-D4FC-26E436134B3E}"/>
              </a:ext>
            </a:extLst>
          </p:cNvPr>
          <p:cNvSpPr txBox="1"/>
          <p:nvPr/>
        </p:nvSpPr>
        <p:spPr>
          <a:xfrm>
            <a:off x="755576" y="3551613"/>
            <a:ext cx="3283237" cy="461665"/>
          </a:xfrm>
          <a:prstGeom prst="rect">
            <a:avLst/>
          </a:prstGeom>
          <a:noFill/>
        </p:spPr>
        <p:txBody>
          <a:bodyPr wrap="square" rtlCol="0">
            <a:spAutoFit/>
          </a:bodyPr>
          <a:lstStyle/>
          <a:p>
            <a:r>
              <a:rPr lang="en-IN" sz="2400" dirty="0">
                <a:solidFill>
                  <a:schemeClr val="tx2">
                    <a:lumMod val="75000"/>
                  </a:schemeClr>
                </a:solidFill>
              </a:rPr>
              <a:t>Objective function</a:t>
            </a:r>
          </a:p>
        </p:txBody>
      </p:sp>
      <p:pic>
        <p:nvPicPr>
          <p:cNvPr id="13" name="Picture 12">
            <a:extLst>
              <a:ext uri="{FF2B5EF4-FFF2-40B4-BE49-F238E27FC236}">
                <a16:creationId xmlns:a16="http://schemas.microsoft.com/office/drawing/2014/main" id="{02838264-3E20-9036-B331-5157B2A2E98C}"/>
              </a:ext>
            </a:extLst>
          </p:cNvPr>
          <p:cNvPicPr>
            <a:picLocks noChangeAspect="1"/>
          </p:cNvPicPr>
          <p:nvPr/>
        </p:nvPicPr>
        <p:blipFill>
          <a:blip r:embed="rId4"/>
          <a:stretch>
            <a:fillRect/>
          </a:stretch>
        </p:blipFill>
        <p:spPr>
          <a:xfrm>
            <a:off x="1110694" y="4013278"/>
            <a:ext cx="3893353" cy="727548"/>
          </a:xfrm>
          <a:prstGeom prst="rect">
            <a:avLst/>
          </a:prstGeom>
        </p:spPr>
      </p:pic>
    </p:spTree>
    <p:extLst>
      <p:ext uri="{BB962C8B-B14F-4D97-AF65-F5344CB8AC3E}">
        <p14:creationId xmlns:p14="http://schemas.microsoft.com/office/powerpoint/2010/main" val="2726150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5B4F49-42DF-D97D-336E-82B0363E3380}"/>
              </a:ext>
            </a:extLst>
          </p:cNvPr>
          <p:cNvSpPr txBox="1"/>
          <p:nvPr/>
        </p:nvSpPr>
        <p:spPr>
          <a:xfrm>
            <a:off x="683568" y="195775"/>
            <a:ext cx="6120680" cy="523220"/>
          </a:xfrm>
          <a:prstGeom prst="rect">
            <a:avLst/>
          </a:prstGeom>
          <a:noFill/>
        </p:spPr>
        <p:txBody>
          <a:bodyPr wrap="square" rtlCol="0">
            <a:spAutoFit/>
          </a:bodyPr>
          <a:lstStyle/>
          <a:p>
            <a:r>
              <a:rPr lang="en-IN" sz="1400" dirty="0">
                <a:solidFill>
                  <a:schemeClr val="bg1"/>
                </a:solidFill>
              </a:rPr>
              <a:t>Here, BTi and Xi denote the unit economic benefit and the area of the i-th land use type.</a:t>
            </a:r>
          </a:p>
        </p:txBody>
      </p:sp>
      <p:sp>
        <p:nvSpPr>
          <p:cNvPr id="3" name="TextBox 2">
            <a:extLst>
              <a:ext uri="{FF2B5EF4-FFF2-40B4-BE49-F238E27FC236}">
                <a16:creationId xmlns:a16="http://schemas.microsoft.com/office/drawing/2014/main" id="{58EB355A-548F-ADAF-5601-0C5D8CD04FBF}"/>
              </a:ext>
            </a:extLst>
          </p:cNvPr>
          <p:cNvSpPr txBox="1"/>
          <p:nvPr/>
        </p:nvSpPr>
        <p:spPr>
          <a:xfrm>
            <a:off x="692631" y="582268"/>
            <a:ext cx="2952328" cy="400110"/>
          </a:xfrm>
          <a:prstGeom prst="rect">
            <a:avLst/>
          </a:prstGeom>
          <a:noFill/>
        </p:spPr>
        <p:txBody>
          <a:bodyPr wrap="square" rtlCol="0">
            <a:spAutoFit/>
          </a:bodyPr>
          <a:lstStyle/>
          <a:p>
            <a:r>
              <a:rPr lang="en-IN" sz="2000" dirty="0">
                <a:solidFill>
                  <a:schemeClr val="accent1">
                    <a:lumMod val="75000"/>
                  </a:schemeClr>
                </a:solidFill>
              </a:rPr>
              <a:t>Constraints</a:t>
            </a:r>
          </a:p>
        </p:txBody>
      </p:sp>
      <p:pic>
        <p:nvPicPr>
          <p:cNvPr id="5" name="Picture 4">
            <a:extLst>
              <a:ext uri="{FF2B5EF4-FFF2-40B4-BE49-F238E27FC236}">
                <a16:creationId xmlns:a16="http://schemas.microsoft.com/office/drawing/2014/main" id="{1F7C2BE3-6A3E-6E6C-67A1-3D1C028C1BD4}"/>
              </a:ext>
            </a:extLst>
          </p:cNvPr>
          <p:cNvPicPr>
            <a:picLocks noChangeAspect="1"/>
          </p:cNvPicPr>
          <p:nvPr/>
        </p:nvPicPr>
        <p:blipFill>
          <a:blip r:embed="rId2"/>
          <a:stretch>
            <a:fillRect/>
          </a:stretch>
        </p:blipFill>
        <p:spPr>
          <a:xfrm>
            <a:off x="755576" y="955636"/>
            <a:ext cx="3672408" cy="879807"/>
          </a:xfrm>
          <a:prstGeom prst="rect">
            <a:avLst/>
          </a:prstGeom>
        </p:spPr>
      </p:pic>
      <p:sp>
        <p:nvSpPr>
          <p:cNvPr id="6" name="TextBox 5">
            <a:extLst>
              <a:ext uri="{FF2B5EF4-FFF2-40B4-BE49-F238E27FC236}">
                <a16:creationId xmlns:a16="http://schemas.microsoft.com/office/drawing/2014/main" id="{EFA92398-B3E8-1173-EE90-759C614BD193}"/>
              </a:ext>
            </a:extLst>
          </p:cNvPr>
          <p:cNvSpPr txBox="1"/>
          <p:nvPr/>
        </p:nvSpPr>
        <p:spPr>
          <a:xfrm>
            <a:off x="683568" y="1962098"/>
            <a:ext cx="6552728" cy="954107"/>
          </a:xfrm>
          <a:prstGeom prst="rect">
            <a:avLst/>
          </a:prstGeom>
          <a:noFill/>
        </p:spPr>
        <p:txBody>
          <a:bodyPr wrap="square" rtlCol="0">
            <a:spAutoFit/>
          </a:bodyPr>
          <a:lstStyle/>
          <a:p>
            <a:r>
              <a:rPr lang="en-IN" sz="1400" dirty="0">
                <a:solidFill>
                  <a:schemeClr val="bg1"/>
                </a:solidFill>
              </a:rPr>
              <a:t>Ecni and Ecpi are the export coefficients for TN and TP loads for the i-th land-use type while SDn and SDp are allowable discharge amounts of TN and TP loads. By controlling the amount of SDn and SDp we can control the total pollution loads of TN and TP and thus the NPS pollution.</a:t>
            </a:r>
          </a:p>
        </p:txBody>
      </p:sp>
      <p:pic>
        <p:nvPicPr>
          <p:cNvPr id="8" name="Picture 7">
            <a:extLst>
              <a:ext uri="{FF2B5EF4-FFF2-40B4-BE49-F238E27FC236}">
                <a16:creationId xmlns:a16="http://schemas.microsoft.com/office/drawing/2014/main" id="{43F1CA14-F77F-FBC4-4A4D-1009D110A621}"/>
              </a:ext>
            </a:extLst>
          </p:cNvPr>
          <p:cNvPicPr>
            <a:picLocks noChangeAspect="1"/>
          </p:cNvPicPr>
          <p:nvPr/>
        </p:nvPicPr>
        <p:blipFill>
          <a:blip r:embed="rId3"/>
          <a:stretch>
            <a:fillRect/>
          </a:stretch>
        </p:blipFill>
        <p:spPr>
          <a:xfrm>
            <a:off x="755576" y="2907029"/>
            <a:ext cx="3672408" cy="918194"/>
          </a:xfrm>
          <a:prstGeom prst="rect">
            <a:avLst/>
          </a:prstGeom>
        </p:spPr>
      </p:pic>
      <p:sp>
        <p:nvSpPr>
          <p:cNvPr id="10" name="TextBox 9">
            <a:extLst>
              <a:ext uri="{FF2B5EF4-FFF2-40B4-BE49-F238E27FC236}">
                <a16:creationId xmlns:a16="http://schemas.microsoft.com/office/drawing/2014/main" id="{521CF525-0DEF-93EA-DF6B-08BEC54C106B}"/>
              </a:ext>
            </a:extLst>
          </p:cNvPr>
          <p:cNvSpPr txBox="1"/>
          <p:nvPr/>
        </p:nvSpPr>
        <p:spPr>
          <a:xfrm>
            <a:off x="683568" y="3825223"/>
            <a:ext cx="5112568" cy="738664"/>
          </a:xfrm>
          <a:prstGeom prst="rect">
            <a:avLst/>
          </a:prstGeom>
          <a:noFill/>
        </p:spPr>
        <p:txBody>
          <a:bodyPr wrap="square" rtlCol="0">
            <a:spAutoFit/>
          </a:bodyPr>
          <a:lstStyle/>
          <a:p>
            <a:r>
              <a:rPr lang="en-IN" sz="1400" dirty="0">
                <a:solidFill>
                  <a:schemeClr val="bg1"/>
                </a:solidFill>
              </a:rPr>
              <a:t>TA is the total area of the region available. The constraint specifies that the total area of all the regions must be less than the physically available area of the region.</a:t>
            </a:r>
          </a:p>
        </p:txBody>
      </p:sp>
    </p:spTree>
    <p:extLst>
      <p:ext uri="{BB962C8B-B14F-4D97-AF65-F5344CB8AC3E}">
        <p14:creationId xmlns:p14="http://schemas.microsoft.com/office/powerpoint/2010/main" val="3798130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D0006B-E1CD-6503-E791-01B8E81C41A3}"/>
              </a:ext>
            </a:extLst>
          </p:cNvPr>
          <p:cNvPicPr>
            <a:picLocks noChangeAspect="1"/>
          </p:cNvPicPr>
          <p:nvPr/>
        </p:nvPicPr>
        <p:blipFill>
          <a:blip r:embed="rId2"/>
          <a:stretch>
            <a:fillRect/>
          </a:stretch>
        </p:blipFill>
        <p:spPr>
          <a:xfrm>
            <a:off x="539552" y="182163"/>
            <a:ext cx="3267531" cy="724001"/>
          </a:xfrm>
          <a:prstGeom prst="rect">
            <a:avLst/>
          </a:prstGeom>
        </p:spPr>
      </p:pic>
      <p:sp>
        <p:nvSpPr>
          <p:cNvPr id="4" name="TextBox 3">
            <a:extLst>
              <a:ext uri="{FF2B5EF4-FFF2-40B4-BE49-F238E27FC236}">
                <a16:creationId xmlns:a16="http://schemas.microsoft.com/office/drawing/2014/main" id="{55FDA264-80A5-4D2E-3BD7-15BCFCD9D72F}"/>
              </a:ext>
            </a:extLst>
          </p:cNvPr>
          <p:cNvSpPr txBox="1"/>
          <p:nvPr/>
        </p:nvSpPr>
        <p:spPr>
          <a:xfrm>
            <a:off x="395536" y="1964384"/>
            <a:ext cx="6048672" cy="1815882"/>
          </a:xfrm>
          <a:prstGeom prst="rect">
            <a:avLst/>
          </a:prstGeom>
          <a:noFill/>
        </p:spPr>
        <p:txBody>
          <a:bodyPr wrap="square" rtlCol="0">
            <a:spAutoFit/>
          </a:bodyPr>
          <a:lstStyle/>
          <a:p>
            <a:r>
              <a:rPr lang="en-IN" sz="1400" dirty="0">
                <a:solidFill>
                  <a:schemeClr val="bg1"/>
                </a:solidFill>
              </a:rPr>
              <a:t>During Optimization we faced a lot of issues in implementation the bounds. We were getting infeasible solutions each time and hence we introduced slack variables SlackLBi and SlackUBi to lower the constraints on the boundedness of the area. This led to a feasible solution for the problem. Here the LBi and UBi are the specified upper and lower bounds on area Xi for the problem.</a:t>
            </a:r>
          </a:p>
          <a:p>
            <a:endParaRPr lang="en-IN" sz="1400" dirty="0">
              <a:solidFill>
                <a:schemeClr val="bg1"/>
              </a:solidFill>
            </a:endParaRPr>
          </a:p>
          <a:p>
            <a:r>
              <a:rPr lang="en-IN" sz="1400" dirty="0">
                <a:solidFill>
                  <a:schemeClr val="bg1"/>
                </a:solidFill>
              </a:rPr>
              <a:t>There should also be a penalty added with the introduction of the slack variables. Thus the new objective function will be :-</a:t>
            </a:r>
          </a:p>
        </p:txBody>
      </p:sp>
      <p:pic>
        <p:nvPicPr>
          <p:cNvPr id="6" name="Picture 5">
            <a:extLst>
              <a:ext uri="{FF2B5EF4-FFF2-40B4-BE49-F238E27FC236}">
                <a16:creationId xmlns:a16="http://schemas.microsoft.com/office/drawing/2014/main" id="{7837B59D-4F8E-07B1-FE60-D63C1097D966}"/>
              </a:ext>
            </a:extLst>
          </p:cNvPr>
          <p:cNvPicPr>
            <a:picLocks noChangeAspect="1"/>
          </p:cNvPicPr>
          <p:nvPr/>
        </p:nvPicPr>
        <p:blipFill>
          <a:blip r:embed="rId3"/>
          <a:stretch>
            <a:fillRect/>
          </a:stretch>
        </p:blipFill>
        <p:spPr>
          <a:xfrm>
            <a:off x="542320" y="1157851"/>
            <a:ext cx="3353268" cy="581106"/>
          </a:xfrm>
          <a:prstGeom prst="rect">
            <a:avLst/>
          </a:prstGeom>
        </p:spPr>
      </p:pic>
      <p:pic>
        <p:nvPicPr>
          <p:cNvPr id="8" name="Picture 7">
            <a:extLst>
              <a:ext uri="{FF2B5EF4-FFF2-40B4-BE49-F238E27FC236}">
                <a16:creationId xmlns:a16="http://schemas.microsoft.com/office/drawing/2014/main" id="{CD54C5D9-591C-8FD6-F480-F791B03A21AF}"/>
              </a:ext>
            </a:extLst>
          </p:cNvPr>
          <p:cNvPicPr>
            <a:picLocks noChangeAspect="1"/>
          </p:cNvPicPr>
          <p:nvPr/>
        </p:nvPicPr>
        <p:blipFill>
          <a:blip r:embed="rId4"/>
          <a:stretch>
            <a:fillRect/>
          </a:stretch>
        </p:blipFill>
        <p:spPr>
          <a:xfrm>
            <a:off x="661399" y="3820545"/>
            <a:ext cx="3115110" cy="1000265"/>
          </a:xfrm>
          <a:prstGeom prst="rect">
            <a:avLst/>
          </a:prstGeom>
        </p:spPr>
      </p:pic>
    </p:spTree>
    <p:extLst>
      <p:ext uri="{BB962C8B-B14F-4D97-AF65-F5344CB8AC3E}">
        <p14:creationId xmlns:p14="http://schemas.microsoft.com/office/powerpoint/2010/main" val="3882792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469465-3187-8CDF-0492-D99E33063D71}"/>
              </a:ext>
            </a:extLst>
          </p:cNvPr>
          <p:cNvSpPr txBox="1"/>
          <p:nvPr/>
        </p:nvSpPr>
        <p:spPr>
          <a:xfrm>
            <a:off x="611560" y="51470"/>
            <a:ext cx="3600400" cy="523220"/>
          </a:xfrm>
          <a:prstGeom prst="rect">
            <a:avLst/>
          </a:prstGeom>
          <a:noFill/>
        </p:spPr>
        <p:txBody>
          <a:bodyPr wrap="square" rtlCol="0">
            <a:spAutoFit/>
          </a:bodyPr>
          <a:lstStyle/>
          <a:p>
            <a:r>
              <a:rPr lang="en-IN" sz="2800" dirty="0">
                <a:solidFill>
                  <a:schemeClr val="accent1">
                    <a:lumMod val="75000"/>
                  </a:schemeClr>
                </a:solidFill>
              </a:rPr>
              <a:t>Multi-objective Model</a:t>
            </a:r>
          </a:p>
        </p:txBody>
      </p:sp>
      <p:sp>
        <p:nvSpPr>
          <p:cNvPr id="3" name="TextBox 2">
            <a:extLst>
              <a:ext uri="{FF2B5EF4-FFF2-40B4-BE49-F238E27FC236}">
                <a16:creationId xmlns:a16="http://schemas.microsoft.com/office/drawing/2014/main" id="{0DFD99D8-8145-702C-3916-B90B00E72B57}"/>
              </a:ext>
            </a:extLst>
          </p:cNvPr>
          <p:cNvSpPr txBox="1"/>
          <p:nvPr/>
        </p:nvSpPr>
        <p:spPr>
          <a:xfrm>
            <a:off x="611560" y="699542"/>
            <a:ext cx="1944216" cy="400110"/>
          </a:xfrm>
          <a:prstGeom prst="rect">
            <a:avLst/>
          </a:prstGeom>
          <a:noFill/>
        </p:spPr>
        <p:txBody>
          <a:bodyPr wrap="square" rtlCol="0">
            <a:spAutoFit/>
          </a:bodyPr>
          <a:lstStyle/>
          <a:p>
            <a:r>
              <a:rPr lang="en-IN" sz="2000" dirty="0">
                <a:solidFill>
                  <a:schemeClr val="bg1"/>
                </a:solidFill>
              </a:rPr>
              <a:t>Objective 1</a:t>
            </a:r>
          </a:p>
        </p:txBody>
      </p:sp>
      <p:pic>
        <p:nvPicPr>
          <p:cNvPr id="10" name="Picture 9">
            <a:extLst>
              <a:ext uri="{FF2B5EF4-FFF2-40B4-BE49-F238E27FC236}">
                <a16:creationId xmlns:a16="http://schemas.microsoft.com/office/drawing/2014/main" id="{041029C2-110D-DCC1-A0E7-D321E8C183C0}"/>
              </a:ext>
            </a:extLst>
          </p:cNvPr>
          <p:cNvPicPr>
            <a:picLocks noChangeAspect="1"/>
          </p:cNvPicPr>
          <p:nvPr/>
        </p:nvPicPr>
        <p:blipFill>
          <a:blip r:embed="rId2"/>
          <a:stretch>
            <a:fillRect/>
          </a:stretch>
        </p:blipFill>
        <p:spPr>
          <a:xfrm>
            <a:off x="755576" y="1236380"/>
            <a:ext cx="3096343" cy="895475"/>
          </a:xfrm>
          <a:prstGeom prst="rect">
            <a:avLst/>
          </a:prstGeom>
        </p:spPr>
      </p:pic>
      <p:sp>
        <p:nvSpPr>
          <p:cNvPr id="11" name="TextBox 10">
            <a:extLst>
              <a:ext uri="{FF2B5EF4-FFF2-40B4-BE49-F238E27FC236}">
                <a16:creationId xmlns:a16="http://schemas.microsoft.com/office/drawing/2014/main" id="{A4543BAA-DC68-0410-D37D-F8AC09E2D6A3}"/>
              </a:ext>
            </a:extLst>
          </p:cNvPr>
          <p:cNvSpPr txBox="1"/>
          <p:nvPr/>
        </p:nvSpPr>
        <p:spPr>
          <a:xfrm>
            <a:off x="5436096" y="699542"/>
            <a:ext cx="1584176" cy="400110"/>
          </a:xfrm>
          <a:prstGeom prst="rect">
            <a:avLst/>
          </a:prstGeom>
          <a:noFill/>
        </p:spPr>
        <p:txBody>
          <a:bodyPr wrap="square" rtlCol="0">
            <a:spAutoFit/>
          </a:bodyPr>
          <a:lstStyle/>
          <a:p>
            <a:r>
              <a:rPr lang="en-IN" sz="2000" dirty="0">
                <a:solidFill>
                  <a:schemeClr val="bg1"/>
                </a:solidFill>
              </a:rPr>
              <a:t>Objective 2</a:t>
            </a:r>
          </a:p>
        </p:txBody>
      </p:sp>
      <p:sp>
        <p:nvSpPr>
          <p:cNvPr id="12" name="TextBox 11">
            <a:extLst>
              <a:ext uri="{FF2B5EF4-FFF2-40B4-BE49-F238E27FC236}">
                <a16:creationId xmlns:a16="http://schemas.microsoft.com/office/drawing/2014/main" id="{967405B0-10B3-0987-1913-66927D55E70E}"/>
              </a:ext>
            </a:extLst>
          </p:cNvPr>
          <p:cNvSpPr txBox="1"/>
          <p:nvPr/>
        </p:nvSpPr>
        <p:spPr>
          <a:xfrm>
            <a:off x="755576" y="2499742"/>
            <a:ext cx="4536504" cy="2062103"/>
          </a:xfrm>
          <a:prstGeom prst="rect">
            <a:avLst/>
          </a:prstGeom>
          <a:noFill/>
        </p:spPr>
        <p:txBody>
          <a:bodyPr wrap="square" rtlCol="0">
            <a:spAutoFit/>
          </a:bodyPr>
          <a:lstStyle/>
          <a:p>
            <a:pPr marL="285750" indent="-285750">
              <a:buFont typeface="Arial" panose="020B0604020202020204" pitchFamily="34" charset="0"/>
              <a:buChar char="•"/>
            </a:pPr>
            <a:r>
              <a:rPr lang="en-IN" sz="1600" dirty="0">
                <a:solidFill>
                  <a:schemeClr val="bg1"/>
                </a:solidFill>
              </a:rPr>
              <a:t>Hence, for the multi-objective model we maximize the economic benefit and minimize the combined TN and TP loads. </a:t>
            </a:r>
          </a:p>
          <a:p>
            <a:pPr marL="285750" indent="-285750">
              <a:buFont typeface="Arial" panose="020B0604020202020204" pitchFamily="34" charset="0"/>
              <a:buChar char="•"/>
            </a:pPr>
            <a:r>
              <a:rPr lang="en-IN" sz="1600" dirty="0">
                <a:solidFill>
                  <a:schemeClr val="bg1"/>
                </a:solidFill>
              </a:rPr>
              <a:t>The constraints for the multi-objective model include Area constraint, Lower Bound and Upper Bound constraints respectively. This constraints have been defined in the single objective model as defined above.</a:t>
            </a:r>
          </a:p>
        </p:txBody>
      </p:sp>
      <p:pic>
        <p:nvPicPr>
          <p:cNvPr id="14" name="Picture 13">
            <a:extLst>
              <a:ext uri="{FF2B5EF4-FFF2-40B4-BE49-F238E27FC236}">
                <a16:creationId xmlns:a16="http://schemas.microsoft.com/office/drawing/2014/main" id="{2F65AEF6-9BFF-1B80-5BA2-C05A95EB4003}"/>
              </a:ext>
            </a:extLst>
          </p:cNvPr>
          <p:cNvPicPr>
            <a:picLocks noChangeAspect="1"/>
          </p:cNvPicPr>
          <p:nvPr/>
        </p:nvPicPr>
        <p:blipFill>
          <a:blip r:embed="rId3"/>
          <a:stretch>
            <a:fillRect/>
          </a:stretch>
        </p:blipFill>
        <p:spPr>
          <a:xfrm>
            <a:off x="5506706" y="1236380"/>
            <a:ext cx="3027131" cy="895474"/>
          </a:xfrm>
          <a:prstGeom prst="rect">
            <a:avLst/>
          </a:prstGeom>
        </p:spPr>
      </p:pic>
    </p:spTree>
    <p:extLst>
      <p:ext uri="{BB962C8B-B14F-4D97-AF65-F5344CB8AC3E}">
        <p14:creationId xmlns:p14="http://schemas.microsoft.com/office/powerpoint/2010/main" val="2232365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629025"/>
          <a:chOff x="914400" y="1028700"/>
          <a:chExt cx="8229600" cy="3629025"/>
        </a:xfrm>
      </p:grpSpPr>
      <p:sp>
        <p:nvSpPr>
          <p:cNvPr id="2" name="TextBox 1"/>
          <p:cNvSpPr txBox="1"/>
          <p:nvPr/>
        </p:nvSpPr>
        <p:spPr>
          <a:xfrm>
            <a:off x="905612" y="0"/>
            <a:ext cx="7315200" cy="400050"/>
          </a:xfrm>
          <a:prstGeom prst="rect">
            <a:avLst/>
          </a:prstGeom>
          <a:noFill/>
        </p:spPr>
        <p:txBody>
          <a:bodyPr vert="horz"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FFAB40">
                    <a:alpha val="100000"/>
                  </a:srgbClr>
                </a:solidFill>
                <a:latin typeface="Calibri"/>
              </a:rPr>
              <a:t>Study Area: Delhi</a:t>
            </a:r>
          </a:p>
        </p:txBody>
      </p:sp>
      <p:sp>
        <p:nvSpPr>
          <p:cNvPr id="3" name="TextBox 2"/>
          <p:cNvSpPr txBox="1"/>
          <p:nvPr/>
        </p:nvSpPr>
        <p:spPr>
          <a:xfrm>
            <a:off x="5434922" y="555526"/>
            <a:ext cx="3529566" cy="4513480"/>
          </a:xfrm>
          <a:prstGeom prst="rect">
            <a:avLst/>
          </a:prstGeom>
          <a:noFill/>
        </p:spPr>
        <p:txBody>
          <a:bodyPr vert="horz" wrap="square" lIns="91440" tIns="45720" rIns="91440" bIns="45720" rtlCol="0" anchorCtr="0">
            <a:spAutoFit/>
          </a:bodyPr>
          <a:lstStyle/>
          <a:p>
            <a:pPr marL="171450" marR="0" lvl="0" indent="-171450" algn="l" rtl="0" fontAlgn="base">
              <a:lnSpc>
                <a:spcPct val="100000"/>
              </a:lnSpc>
              <a:spcBef>
                <a:spcPts val="0"/>
              </a:spcBef>
              <a:spcAft>
                <a:spcPts val="0"/>
              </a:spcAft>
              <a:buFont typeface="Arial" panose="020B0604020202020204" pitchFamily="34" charset="0"/>
              <a:buChar char="•"/>
            </a:pPr>
            <a:r>
              <a:rPr lang="en-US" sz="1100" u="none" strike="noStrike" cap="none" spc="0" dirty="0">
                <a:solidFill>
                  <a:srgbClr val="FFFFFF">
                    <a:alpha val="100000"/>
                  </a:srgbClr>
                </a:solidFill>
                <a:latin typeface="Calibri"/>
              </a:rPr>
              <a:t>Delhi is a critical region located in northern India.</a:t>
            </a:r>
          </a:p>
          <a:p>
            <a:pPr marL="171450" indent="-171450" fontAlgn="base">
              <a:buFont typeface="Arial" panose="020B0604020202020204" pitchFamily="34" charset="0"/>
              <a:buChar char="•"/>
            </a:pPr>
            <a:r>
              <a:rPr lang="en-US" sz="1100" dirty="0">
                <a:solidFill>
                  <a:srgbClr val="FFFFFF">
                    <a:alpha val="100000"/>
                  </a:srgbClr>
                </a:solidFill>
                <a:latin typeface="Calibri"/>
              </a:rPr>
              <a:t>The average temperature is around 29 degree Celsius and the average annual precipitation is around 774.4mm.</a:t>
            </a:r>
            <a:r>
              <a:rPr lang="en-US" sz="1100" u="none" strike="noStrike" cap="none" spc="0" dirty="0">
                <a:solidFill>
                  <a:srgbClr val="FFFFFF">
                    <a:alpha val="100000"/>
                  </a:srgbClr>
                </a:solidFill>
                <a:latin typeface="Calibri"/>
              </a:rPr>
              <a:t>
Key land-use types include agricultural land, forest land, water land, grass land, and construction land.
The area covered by forests constitutes over 76% of Delhi.</a:t>
            </a:r>
          </a:p>
          <a:p>
            <a:pPr marL="171450" indent="-171450" fontAlgn="base">
              <a:buFont typeface="Arial" panose="020B0604020202020204" pitchFamily="34" charset="0"/>
              <a:buChar char="•"/>
            </a:pPr>
            <a:r>
              <a:rPr lang="en-US" sz="1100" u="none" strike="noStrike" cap="none" spc="0" dirty="0">
                <a:solidFill>
                  <a:srgbClr val="FFFFFF">
                    <a:alpha val="100000"/>
                  </a:srgbClr>
                </a:solidFill>
                <a:latin typeface="Calibri"/>
              </a:rPr>
              <a:t>Since 1960s the city’s land distribution has been majorly affected by urbanization due to Delhi being the capital of India as well as a major economic hub.</a:t>
            </a:r>
          </a:p>
          <a:p>
            <a:pPr marL="171450" indent="-171450" fontAlgn="base">
              <a:buFont typeface="Arial" panose="020B0604020202020204" pitchFamily="34" charset="0"/>
              <a:buChar char="•"/>
            </a:pPr>
            <a:r>
              <a:rPr lang="en-US" sz="1100" dirty="0">
                <a:solidFill>
                  <a:srgbClr val="FFFFFF">
                    <a:alpha val="100000"/>
                  </a:srgbClr>
                </a:solidFill>
                <a:latin typeface="Calibri"/>
              </a:rPr>
              <a:t>Thus, the early urbanization of Delhi has led to considerable increase in construction land area.</a:t>
            </a:r>
          </a:p>
          <a:p>
            <a:pPr marL="171450" indent="-171450" fontAlgn="base">
              <a:buFont typeface="Arial" panose="020B0604020202020204" pitchFamily="34" charset="0"/>
              <a:buChar char="•"/>
            </a:pPr>
            <a:r>
              <a:rPr lang="en-US" sz="1100" dirty="0">
                <a:solidFill>
                  <a:srgbClr val="FFFFFF">
                    <a:alpha val="100000"/>
                  </a:srgbClr>
                </a:solidFill>
                <a:latin typeface="Calibri"/>
              </a:rPr>
              <a:t>Agricultural land(AL) and forest land(FL) have a contribution of over more than 80% in the land use structure.</a:t>
            </a:r>
          </a:p>
          <a:p>
            <a:pPr marL="171450" indent="-171450" fontAlgn="base">
              <a:buFont typeface="Arial" panose="020B0604020202020204" pitchFamily="34" charset="0"/>
              <a:buChar char="•"/>
            </a:pPr>
            <a:r>
              <a:rPr lang="en-US" sz="1100" u="none" strike="noStrike" cap="none" spc="0" dirty="0">
                <a:solidFill>
                  <a:srgbClr val="FFFFFF">
                    <a:alpha val="100000"/>
                  </a:srgbClr>
                </a:solidFill>
                <a:latin typeface="Calibri"/>
              </a:rPr>
              <a:t>As AL is the most profitable when it comes to economic benefits, most of the GL area was converted to AL for optimizing the economic benefit.</a:t>
            </a:r>
          </a:p>
          <a:p>
            <a:pPr marL="171450" indent="-171450" fontAlgn="base">
              <a:buFont typeface="Arial" panose="020B0604020202020204" pitchFamily="34" charset="0"/>
              <a:buChar char="•"/>
            </a:pPr>
            <a:r>
              <a:rPr lang="en-US" sz="1100" u="none" strike="noStrike" cap="none" spc="0" dirty="0">
                <a:solidFill>
                  <a:srgbClr val="FFFFFF">
                    <a:alpha val="100000"/>
                  </a:srgbClr>
                </a:solidFill>
                <a:latin typeface="Calibri"/>
              </a:rPr>
              <a:t>The map of regional land</a:t>
            </a:r>
            <a:r>
              <a:rPr lang="en-US" sz="1100" dirty="0">
                <a:solidFill>
                  <a:srgbClr val="FFFFFF">
                    <a:alpha val="100000"/>
                  </a:srgbClr>
                </a:solidFill>
                <a:latin typeface="Calibri"/>
              </a:rPr>
              <a:t> distribution of Delhi was obtained through Bhuvan ISRO portal.</a:t>
            </a:r>
          </a:p>
          <a:p>
            <a:pPr marL="171450" indent="-171450" fontAlgn="base">
              <a:buFont typeface="Arial" panose="020B0604020202020204" pitchFamily="34" charset="0"/>
              <a:buChar char="•"/>
            </a:pPr>
            <a:r>
              <a:rPr lang="en-US" sz="1200" dirty="0">
                <a:solidFill>
                  <a:srgbClr val="FFFFFF">
                    <a:alpha val="100000"/>
                  </a:srgbClr>
                </a:solidFill>
                <a:latin typeface="Calibri"/>
              </a:rPr>
              <a:t>The areas of AL,FL,GL,WR and CL were found to be between </a:t>
            </a:r>
            <a:r>
              <a:rPr lang="en-US" sz="1100" dirty="0">
                <a:solidFill>
                  <a:schemeClr val="bg1"/>
                </a:solidFill>
                <a:effectLst/>
                <a:latin typeface="Calibri" panose="020F0502020204030204" pitchFamily="34" charset="0"/>
                <a:ea typeface="Calibri" panose="020F0502020204030204" pitchFamily="34" charset="0"/>
              </a:rPr>
              <a:t>[400,</a:t>
            </a:r>
            <a:r>
              <a:rPr lang="en-US" sz="1100" spc="220" dirty="0">
                <a:solidFill>
                  <a:schemeClr val="bg1"/>
                </a:solidFill>
                <a:effectLst/>
                <a:latin typeface="Calibri" panose="020F0502020204030204" pitchFamily="34" charset="0"/>
                <a:ea typeface="Calibri" panose="020F0502020204030204" pitchFamily="34" charset="0"/>
              </a:rPr>
              <a:t> </a:t>
            </a:r>
            <a:r>
              <a:rPr lang="en-US" sz="1100" dirty="0">
                <a:solidFill>
                  <a:schemeClr val="bg1"/>
                </a:solidFill>
                <a:effectLst/>
                <a:latin typeface="Calibri" panose="020F0502020204030204" pitchFamily="34" charset="0"/>
                <a:ea typeface="Calibri" panose="020F0502020204030204" pitchFamily="34" charset="0"/>
              </a:rPr>
              <a:t>505.28],</a:t>
            </a:r>
            <a:r>
              <a:rPr lang="en-US" sz="1100" spc="210" dirty="0">
                <a:solidFill>
                  <a:schemeClr val="bg1"/>
                </a:solidFill>
                <a:effectLst/>
                <a:latin typeface="Calibri" panose="020F0502020204030204" pitchFamily="34" charset="0"/>
                <a:ea typeface="Calibri" panose="020F0502020204030204" pitchFamily="34" charset="0"/>
              </a:rPr>
              <a:t> </a:t>
            </a:r>
            <a:r>
              <a:rPr lang="en-US" sz="1100" dirty="0">
                <a:solidFill>
                  <a:schemeClr val="bg1"/>
                </a:solidFill>
                <a:effectLst/>
                <a:latin typeface="Calibri" panose="020F0502020204030204" pitchFamily="34" charset="0"/>
                <a:ea typeface="Calibri" panose="020F0502020204030204" pitchFamily="34" charset="0"/>
              </a:rPr>
              <a:t>[1353,5093.44],[0,</a:t>
            </a:r>
            <a:r>
              <a:rPr lang="en-US" sz="1100" spc="205" dirty="0">
                <a:solidFill>
                  <a:schemeClr val="bg1"/>
                </a:solidFill>
                <a:effectLst/>
                <a:latin typeface="Calibri" panose="020F0502020204030204" pitchFamily="34" charset="0"/>
                <a:ea typeface="Calibri" panose="020F0502020204030204" pitchFamily="34" charset="0"/>
              </a:rPr>
              <a:t> </a:t>
            </a:r>
            <a:r>
              <a:rPr lang="en-US" sz="1100" dirty="0">
                <a:solidFill>
                  <a:schemeClr val="bg1"/>
                </a:solidFill>
                <a:effectLst/>
                <a:latin typeface="Calibri" panose="020F0502020204030204" pitchFamily="34" charset="0"/>
                <a:ea typeface="Calibri" panose="020F0502020204030204" pitchFamily="34" charset="0"/>
              </a:rPr>
              <a:t>10],[96.16,120]</a:t>
            </a:r>
            <a:r>
              <a:rPr lang="en-US" sz="1100" spc="175" dirty="0">
                <a:solidFill>
                  <a:schemeClr val="bg1"/>
                </a:solidFill>
                <a:effectLst/>
                <a:latin typeface="Calibri" panose="020F0502020204030204" pitchFamily="34" charset="0"/>
                <a:ea typeface="Calibri" panose="020F0502020204030204" pitchFamily="34" charset="0"/>
              </a:rPr>
              <a:t> </a:t>
            </a:r>
            <a:r>
              <a:rPr lang="en-US" sz="1100" dirty="0">
                <a:solidFill>
                  <a:schemeClr val="bg1"/>
                </a:solidFill>
                <a:effectLst/>
                <a:latin typeface="Calibri" panose="020F0502020204030204" pitchFamily="34" charset="0"/>
                <a:ea typeface="Calibri" panose="020F0502020204030204" pitchFamily="34" charset="0"/>
              </a:rPr>
              <a:t>and</a:t>
            </a:r>
            <a:r>
              <a:rPr lang="en-US" sz="1100" spc="170" dirty="0">
                <a:solidFill>
                  <a:schemeClr val="bg1"/>
                </a:solidFill>
                <a:effectLst/>
                <a:latin typeface="Calibri" panose="020F0502020204030204" pitchFamily="34" charset="0"/>
                <a:ea typeface="Calibri" panose="020F0502020204030204" pitchFamily="34" charset="0"/>
              </a:rPr>
              <a:t> </a:t>
            </a:r>
            <a:r>
              <a:rPr lang="en-US" sz="1100" dirty="0">
                <a:solidFill>
                  <a:schemeClr val="bg1"/>
                </a:solidFill>
                <a:effectLst/>
                <a:latin typeface="Calibri" panose="020F0502020204030204" pitchFamily="34" charset="0"/>
                <a:ea typeface="Calibri" panose="020F0502020204030204" pitchFamily="34" charset="0"/>
              </a:rPr>
              <a:t>[800,1000]km</a:t>
            </a:r>
            <a:r>
              <a:rPr lang="en-US" sz="1100" baseline="30000" dirty="0">
                <a:solidFill>
                  <a:schemeClr val="bg1"/>
                </a:solidFill>
                <a:effectLst/>
                <a:latin typeface="Lucida Sans Unicode" panose="020B0602030504020204" pitchFamily="34" charset="0"/>
                <a:ea typeface="Calibri" panose="020F0502020204030204" pitchFamily="34" charset="0"/>
                <a:cs typeface="Calibri" panose="020F0502020204030204" pitchFamily="34" charset="0"/>
              </a:rPr>
              <a:t>2</a:t>
            </a:r>
            <a:r>
              <a:rPr lang="en-US" sz="1100" dirty="0">
                <a:solidFill>
                  <a:schemeClr val="bg1"/>
                </a:solidFill>
                <a:effectLst/>
                <a:latin typeface="Calibri" panose="020F0502020204030204" pitchFamily="34" charset="0"/>
                <a:ea typeface="Calibri" panose="020F0502020204030204" pitchFamily="34" charset="0"/>
              </a:rPr>
              <a:t>,</a:t>
            </a:r>
            <a:r>
              <a:rPr lang="en-US" sz="1100" spc="205" dirty="0">
                <a:solidFill>
                  <a:schemeClr val="bg1"/>
                </a:solidFill>
                <a:effectLst/>
                <a:latin typeface="Calibri" panose="020F0502020204030204" pitchFamily="34" charset="0"/>
                <a:ea typeface="Calibri" panose="020F0502020204030204" pitchFamily="34" charset="0"/>
              </a:rPr>
              <a:t> </a:t>
            </a:r>
            <a:r>
              <a:rPr lang="en-US" sz="1100" dirty="0">
                <a:solidFill>
                  <a:schemeClr val="bg1"/>
                </a:solidFill>
                <a:effectLst/>
                <a:latin typeface="Calibri" panose="020F0502020204030204" pitchFamily="34" charset="0"/>
                <a:ea typeface="Calibri" panose="020F0502020204030204" pitchFamily="34" charset="0"/>
              </a:rPr>
              <a:t>respectively.</a:t>
            </a:r>
            <a:endParaRPr lang="en-IN" sz="1100" dirty="0">
              <a:solidFill>
                <a:schemeClr val="bg1"/>
              </a:solidFill>
              <a:effectLst/>
              <a:latin typeface="Calibri" panose="020F0502020204030204" pitchFamily="34" charset="0"/>
              <a:ea typeface="Calibri" panose="020F0502020204030204" pitchFamily="34" charset="0"/>
            </a:endParaRPr>
          </a:p>
          <a:p>
            <a:pPr marL="171450" indent="-171450" fontAlgn="base">
              <a:buFont typeface="Arial" panose="020B0604020202020204" pitchFamily="34" charset="0"/>
              <a:buChar char="•"/>
            </a:pPr>
            <a:endParaRPr lang="en-US" sz="1100" dirty="0">
              <a:solidFill>
                <a:srgbClr val="FFFFFF">
                  <a:alpha val="100000"/>
                </a:srgbClr>
              </a:solidFill>
              <a:latin typeface="Calibri"/>
            </a:endParaRPr>
          </a:p>
          <a:p>
            <a:pPr marL="171450" indent="-171450" fontAlgn="base">
              <a:buFont typeface="Arial" panose="020B0604020202020204" pitchFamily="34" charset="0"/>
              <a:buChar char="•"/>
            </a:pPr>
            <a:endParaRPr lang="en-US" sz="1100" u="none" strike="noStrike" cap="none" spc="0" dirty="0">
              <a:solidFill>
                <a:srgbClr val="FFFFFF">
                  <a:alpha val="100000"/>
                </a:srgbClr>
              </a:solidFill>
              <a:latin typeface="Calibri"/>
            </a:endParaRPr>
          </a:p>
        </p:txBody>
      </p:sp>
      <p:pic>
        <p:nvPicPr>
          <p:cNvPr id="5" name="Picture 4">
            <a:extLst>
              <a:ext uri="{FF2B5EF4-FFF2-40B4-BE49-F238E27FC236}">
                <a16:creationId xmlns:a16="http://schemas.microsoft.com/office/drawing/2014/main" id="{AD3BDEB0-1A66-1DC9-0C6C-00BC4A0D61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555526"/>
            <a:ext cx="4536504" cy="42484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97F70-117F-21A3-2E3B-9A56C830D43B}"/>
              </a:ext>
            </a:extLst>
          </p:cNvPr>
          <p:cNvSpPr txBox="1"/>
          <p:nvPr/>
        </p:nvSpPr>
        <p:spPr>
          <a:xfrm>
            <a:off x="286448" y="2700"/>
            <a:ext cx="3456384" cy="523220"/>
          </a:xfrm>
          <a:prstGeom prst="rect">
            <a:avLst/>
          </a:prstGeom>
          <a:noFill/>
        </p:spPr>
        <p:txBody>
          <a:bodyPr wrap="square" rtlCol="0">
            <a:spAutoFit/>
          </a:bodyPr>
          <a:lstStyle/>
          <a:p>
            <a:r>
              <a:rPr lang="en-IN" sz="2800" b="1" dirty="0">
                <a:solidFill>
                  <a:schemeClr val="accent1">
                    <a:lumMod val="75000"/>
                  </a:schemeClr>
                </a:solidFill>
              </a:rPr>
              <a:t>Results and Analysis</a:t>
            </a:r>
          </a:p>
        </p:txBody>
      </p:sp>
      <p:sp>
        <p:nvSpPr>
          <p:cNvPr id="5" name="TextBox 4">
            <a:extLst>
              <a:ext uri="{FF2B5EF4-FFF2-40B4-BE49-F238E27FC236}">
                <a16:creationId xmlns:a16="http://schemas.microsoft.com/office/drawing/2014/main" id="{57EDC951-A18B-C213-B4AD-4AC3CF8F3BA2}"/>
              </a:ext>
            </a:extLst>
          </p:cNvPr>
          <p:cNvSpPr txBox="1"/>
          <p:nvPr/>
        </p:nvSpPr>
        <p:spPr>
          <a:xfrm>
            <a:off x="286448" y="483518"/>
            <a:ext cx="4069528" cy="400110"/>
          </a:xfrm>
          <a:prstGeom prst="rect">
            <a:avLst/>
          </a:prstGeom>
          <a:noFill/>
        </p:spPr>
        <p:txBody>
          <a:bodyPr wrap="square" rtlCol="0">
            <a:spAutoFit/>
          </a:bodyPr>
          <a:lstStyle/>
          <a:p>
            <a:pPr marL="285750" indent="-285750">
              <a:buFont typeface="Arial" panose="020B0604020202020204" pitchFamily="34" charset="0"/>
              <a:buChar char="•"/>
            </a:pPr>
            <a:r>
              <a:rPr lang="en-IN" sz="2000" dirty="0">
                <a:solidFill>
                  <a:schemeClr val="accent1">
                    <a:lumMod val="75000"/>
                  </a:schemeClr>
                </a:solidFill>
              </a:rPr>
              <a:t>Land-Use structure in Base year</a:t>
            </a:r>
          </a:p>
        </p:txBody>
      </p:sp>
      <p:sp>
        <p:nvSpPr>
          <p:cNvPr id="6" name="TextBox 5">
            <a:extLst>
              <a:ext uri="{FF2B5EF4-FFF2-40B4-BE49-F238E27FC236}">
                <a16:creationId xmlns:a16="http://schemas.microsoft.com/office/drawing/2014/main" id="{38F64A44-4911-5E79-FBCB-D18E2D5016B6}"/>
              </a:ext>
            </a:extLst>
          </p:cNvPr>
          <p:cNvSpPr txBox="1"/>
          <p:nvPr/>
        </p:nvSpPr>
        <p:spPr>
          <a:xfrm>
            <a:off x="467544" y="2699880"/>
            <a:ext cx="6984776" cy="2308324"/>
          </a:xfrm>
          <a:prstGeom prst="rect">
            <a:avLst/>
          </a:prstGeom>
          <a:noFill/>
        </p:spPr>
        <p:txBody>
          <a:bodyPr wrap="square" rtlCol="0">
            <a:spAutoFit/>
          </a:bodyPr>
          <a:lstStyle/>
          <a:p>
            <a:pPr marL="171450" indent="-171450">
              <a:buFont typeface="Arial" panose="020B0604020202020204" pitchFamily="34" charset="0"/>
              <a:buChar char="•"/>
            </a:pPr>
            <a:r>
              <a:rPr lang="en-IN" sz="1200" dirty="0">
                <a:solidFill>
                  <a:schemeClr val="bg1">
                    <a:lumMod val="95000"/>
                  </a:schemeClr>
                </a:solidFill>
              </a:rPr>
              <a:t>In the above table as we can see, in the base year (2015-16) the TN and TP loads were 4130.7 and 1679.3 t/yr. FL and AL are mostly responsible towards the generation of the TN and TP loads. Almost 70% of the total TN and TP pollution loads are generated due to FL and AL. The use of GL was negligible in the base year. The above analysis indicates that the planning of FL and AL areas is crucial in reducing the NPS pollution loads as well as increasing the economic benefit.</a:t>
            </a:r>
          </a:p>
          <a:p>
            <a:pPr marL="171450" indent="-171450">
              <a:buFont typeface="Arial" panose="020B0604020202020204" pitchFamily="34" charset="0"/>
              <a:buChar char="•"/>
            </a:pPr>
            <a:endParaRPr lang="en-IN" sz="1200" dirty="0">
              <a:solidFill>
                <a:schemeClr val="bg1">
                  <a:lumMod val="95000"/>
                </a:schemeClr>
              </a:solidFill>
            </a:endParaRPr>
          </a:p>
          <a:p>
            <a:pPr marL="171450" indent="-171450">
              <a:buFont typeface="Arial" panose="020B0604020202020204" pitchFamily="34" charset="0"/>
              <a:buChar char="•"/>
            </a:pPr>
            <a:r>
              <a:rPr lang="en-IN" sz="1200" dirty="0">
                <a:solidFill>
                  <a:schemeClr val="bg1">
                    <a:lumMod val="95000"/>
                  </a:schemeClr>
                </a:solidFill>
              </a:rPr>
              <a:t>Thus, the above analysis indicated that reducing the area of FL may help in reducing the pollution loads. Also the area of AL needs to be reduced. But due to large economic benefit due to AL, considerable decrease in AL land area may lead to loss in the economic benefit.</a:t>
            </a:r>
          </a:p>
          <a:p>
            <a:pPr marL="171450" indent="-171450">
              <a:buFont typeface="Arial" panose="020B0604020202020204" pitchFamily="34" charset="0"/>
              <a:buChar char="•"/>
            </a:pPr>
            <a:endParaRPr lang="en-IN" sz="1200" dirty="0">
              <a:solidFill>
                <a:schemeClr val="bg1">
                  <a:lumMod val="95000"/>
                </a:schemeClr>
              </a:solidFill>
            </a:endParaRPr>
          </a:p>
          <a:p>
            <a:pPr marL="171450" indent="-171450">
              <a:buFont typeface="Arial" panose="020B0604020202020204" pitchFamily="34" charset="0"/>
              <a:buChar char="•"/>
            </a:pPr>
            <a:r>
              <a:rPr lang="en-IN" sz="1200" dirty="0">
                <a:solidFill>
                  <a:schemeClr val="bg1">
                    <a:lumMod val="95000"/>
                  </a:schemeClr>
                </a:solidFill>
              </a:rPr>
              <a:t>In the next analysis, we have considered 4 optimization scenarios where we have increased the pollution reduction constraints i.e. we have reduced the SDn and SDp values by 5%, 10%, 15%, 20%.</a:t>
            </a:r>
          </a:p>
        </p:txBody>
      </p:sp>
      <p:pic>
        <p:nvPicPr>
          <p:cNvPr id="8" name="Picture 7">
            <a:extLst>
              <a:ext uri="{FF2B5EF4-FFF2-40B4-BE49-F238E27FC236}">
                <a16:creationId xmlns:a16="http://schemas.microsoft.com/office/drawing/2014/main" id="{E134B31B-634F-0691-B010-BF9EFE1F08C1}"/>
              </a:ext>
            </a:extLst>
          </p:cNvPr>
          <p:cNvPicPr>
            <a:picLocks noChangeAspect="1"/>
          </p:cNvPicPr>
          <p:nvPr/>
        </p:nvPicPr>
        <p:blipFill>
          <a:blip r:embed="rId2"/>
          <a:stretch>
            <a:fillRect/>
          </a:stretch>
        </p:blipFill>
        <p:spPr>
          <a:xfrm>
            <a:off x="474067" y="883628"/>
            <a:ext cx="7914357" cy="1760130"/>
          </a:xfrm>
          <a:prstGeom prst="rect">
            <a:avLst/>
          </a:prstGeom>
        </p:spPr>
      </p:pic>
    </p:spTree>
    <p:extLst>
      <p:ext uri="{BB962C8B-B14F-4D97-AF65-F5344CB8AC3E}">
        <p14:creationId xmlns:p14="http://schemas.microsoft.com/office/powerpoint/2010/main" val="3706375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43653E-75C3-D1A5-87F6-8FA3B157F5CC}"/>
              </a:ext>
            </a:extLst>
          </p:cNvPr>
          <p:cNvSpPr txBox="1"/>
          <p:nvPr/>
        </p:nvSpPr>
        <p:spPr>
          <a:xfrm>
            <a:off x="485502" y="45868"/>
            <a:ext cx="4518546" cy="400110"/>
          </a:xfrm>
          <a:prstGeom prst="rect">
            <a:avLst/>
          </a:prstGeom>
          <a:noFill/>
        </p:spPr>
        <p:txBody>
          <a:bodyPr wrap="square" rtlCol="0">
            <a:spAutoFit/>
          </a:bodyPr>
          <a:lstStyle/>
          <a:p>
            <a:pPr marL="285750" indent="-285750">
              <a:buFont typeface="Arial" panose="020B0604020202020204" pitchFamily="34" charset="0"/>
              <a:buChar char="•"/>
            </a:pPr>
            <a:r>
              <a:rPr lang="en-IN" sz="2000" dirty="0">
                <a:solidFill>
                  <a:schemeClr val="accent1">
                    <a:lumMod val="75000"/>
                  </a:schemeClr>
                </a:solidFill>
              </a:rPr>
              <a:t>Land-Use</a:t>
            </a:r>
            <a:r>
              <a:rPr lang="en-IN" dirty="0">
                <a:solidFill>
                  <a:schemeClr val="accent1">
                    <a:lumMod val="75000"/>
                  </a:schemeClr>
                </a:solidFill>
              </a:rPr>
              <a:t> structure after Optimization</a:t>
            </a:r>
          </a:p>
        </p:txBody>
      </p:sp>
      <p:graphicFrame>
        <p:nvGraphicFramePr>
          <p:cNvPr id="3" name="Chart 2">
            <a:extLst>
              <a:ext uri="{FF2B5EF4-FFF2-40B4-BE49-F238E27FC236}">
                <a16:creationId xmlns:a16="http://schemas.microsoft.com/office/drawing/2014/main" id="{3182A451-B73C-277A-ABBF-F02A21041290}"/>
              </a:ext>
            </a:extLst>
          </p:cNvPr>
          <p:cNvGraphicFramePr>
            <a:graphicFrameLocks/>
          </p:cNvGraphicFramePr>
          <p:nvPr>
            <p:extLst>
              <p:ext uri="{D42A27DB-BD31-4B8C-83A1-F6EECF244321}">
                <p14:modId xmlns:p14="http://schemas.microsoft.com/office/powerpoint/2010/main" val="535456412"/>
              </p:ext>
            </p:extLst>
          </p:nvPr>
        </p:nvGraphicFramePr>
        <p:xfrm>
          <a:off x="4211960" y="555526"/>
          <a:ext cx="4752528" cy="432048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536FA4EE-C39D-D535-3C3D-45496101B4F9}"/>
              </a:ext>
            </a:extLst>
          </p:cNvPr>
          <p:cNvSpPr txBox="1"/>
          <p:nvPr/>
        </p:nvSpPr>
        <p:spPr>
          <a:xfrm>
            <a:off x="539552" y="448935"/>
            <a:ext cx="3528392" cy="4616648"/>
          </a:xfrm>
          <a:prstGeom prst="rect">
            <a:avLst/>
          </a:prstGeom>
          <a:noFill/>
        </p:spPr>
        <p:txBody>
          <a:bodyPr wrap="square" rtlCol="0">
            <a:spAutoFit/>
          </a:bodyPr>
          <a:lstStyle/>
          <a:p>
            <a:pPr marL="171450" indent="-171450">
              <a:buFont typeface="Arial" panose="020B0604020202020204" pitchFamily="34" charset="0"/>
              <a:buChar char="•"/>
            </a:pPr>
            <a:r>
              <a:rPr lang="en-IN" sz="1050" dirty="0">
                <a:solidFill>
                  <a:schemeClr val="bg1">
                    <a:lumMod val="95000"/>
                  </a:schemeClr>
                </a:solidFill>
              </a:rPr>
              <a:t>Thus, as we can see from the graph alongside that the increase in optimization of pollution loads causes a considerable decrease in the area of FL.</a:t>
            </a:r>
          </a:p>
          <a:p>
            <a:pPr marL="171450" indent="-171450">
              <a:buFont typeface="Arial" panose="020B0604020202020204" pitchFamily="34" charset="0"/>
              <a:buChar char="•"/>
            </a:pPr>
            <a:endParaRPr lang="en-IN" sz="1050" dirty="0">
              <a:solidFill>
                <a:schemeClr val="bg1">
                  <a:lumMod val="95000"/>
                </a:schemeClr>
              </a:solidFill>
            </a:endParaRPr>
          </a:p>
          <a:p>
            <a:pPr marL="171450" indent="-171450">
              <a:buFont typeface="Arial" panose="020B0604020202020204" pitchFamily="34" charset="0"/>
              <a:buChar char="•"/>
            </a:pPr>
            <a:r>
              <a:rPr lang="en-IN" sz="1050" dirty="0">
                <a:solidFill>
                  <a:schemeClr val="bg1">
                    <a:lumMod val="95000"/>
                  </a:schemeClr>
                </a:solidFill>
              </a:rPr>
              <a:t>While the area of AL decreases across various optimization scenarios, there is not a considerable change in it. If we observe the area of AL decreases only by 12.3% while the area of FL decreases by 40.5% while going from the base year towards 20% pollution reduction.</a:t>
            </a:r>
          </a:p>
          <a:p>
            <a:pPr marL="171450" indent="-171450">
              <a:buFont typeface="Arial" panose="020B0604020202020204" pitchFamily="34" charset="0"/>
              <a:buChar char="•"/>
            </a:pPr>
            <a:endParaRPr lang="en-IN" sz="1050" dirty="0">
              <a:solidFill>
                <a:schemeClr val="bg1">
                  <a:lumMod val="95000"/>
                </a:schemeClr>
              </a:solidFill>
            </a:endParaRPr>
          </a:p>
          <a:p>
            <a:pPr marL="171450" indent="-171450">
              <a:buFont typeface="Arial" panose="020B0604020202020204" pitchFamily="34" charset="0"/>
              <a:buChar char="•"/>
            </a:pPr>
            <a:r>
              <a:rPr lang="en-IN" sz="1050" dirty="0">
                <a:solidFill>
                  <a:schemeClr val="bg1">
                    <a:lumMod val="95000"/>
                  </a:schemeClr>
                </a:solidFill>
              </a:rPr>
              <a:t>Thus, we can observe that our previous hypothesis for the land-use area structure has proven to be true as there is a considerable decrease in FL area as it contributes most towards total area and the corresponding decrease in the area of AL is negligible as it contributes the most towards economic benefit.</a:t>
            </a:r>
          </a:p>
          <a:p>
            <a:pPr marL="171450" indent="-171450">
              <a:buFont typeface="Arial" panose="020B0604020202020204" pitchFamily="34" charset="0"/>
              <a:buChar char="•"/>
            </a:pPr>
            <a:endParaRPr lang="en-IN" sz="1050" dirty="0">
              <a:solidFill>
                <a:schemeClr val="bg1">
                  <a:lumMod val="95000"/>
                </a:schemeClr>
              </a:solidFill>
            </a:endParaRPr>
          </a:p>
          <a:p>
            <a:pPr marL="171450" indent="-171450">
              <a:buFont typeface="Arial" panose="020B0604020202020204" pitchFamily="34" charset="0"/>
              <a:buChar char="•"/>
            </a:pPr>
            <a:r>
              <a:rPr lang="en-IN" sz="1050" dirty="0">
                <a:solidFill>
                  <a:schemeClr val="bg1">
                    <a:lumMod val="95000"/>
                  </a:schemeClr>
                </a:solidFill>
              </a:rPr>
              <a:t>Also we can observe that the contribution of GL towards both pollution reduction and economic benefit maximization is negligible. </a:t>
            </a:r>
          </a:p>
          <a:p>
            <a:pPr marL="171450" indent="-171450">
              <a:buFont typeface="Arial" panose="020B0604020202020204" pitchFamily="34" charset="0"/>
              <a:buChar char="•"/>
            </a:pPr>
            <a:endParaRPr lang="en-IN" sz="1050" dirty="0">
              <a:solidFill>
                <a:schemeClr val="bg1">
                  <a:lumMod val="95000"/>
                </a:schemeClr>
              </a:solidFill>
            </a:endParaRPr>
          </a:p>
          <a:p>
            <a:pPr marL="171450" indent="-171450">
              <a:buFont typeface="Arial" panose="020B0604020202020204" pitchFamily="34" charset="0"/>
              <a:buChar char="•"/>
            </a:pPr>
            <a:r>
              <a:rPr lang="en-IN" sz="1050" dirty="0">
                <a:solidFill>
                  <a:schemeClr val="bg1">
                    <a:lumMod val="95000"/>
                  </a:schemeClr>
                </a:solidFill>
              </a:rPr>
              <a:t>The area of WR reduces by 19.8% which is more than the decrease in the area of AL as it has a lower value of unit economic benefit.</a:t>
            </a:r>
          </a:p>
          <a:p>
            <a:pPr marL="171450" indent="-171450">
              <a:buFont typeface="Arial" panose="020B0604020202020204" pitchFamily="34" charset="0"/>
              <a:buChar char="•"/>
            </a:pPr>
            <a:endParaRPr lang="en-IN" sz="1050" dirty="0">
              <a:solidFill>
                <a:schemeClr val="bg1">
                  <a:lumMod val="95000"/>
                </a:schemeClr>
              </a:solidFill>
            </a:endParaRPr>
          </a:p>
          <a:p>
            <a:pPr marL="171450" indent="-171450">
              <a:buFont typeface="Arial" panose="020B0604020202020204" pitchFamily="34" charset="0"/>
              <a:buChar char="•"/>
            </a:pPr>
            <a:r>
              <a:rPr lang="en-IN" sz="1050" dirty="0">
                <a:solidFill>
                  <a:schemeClr val="bg1">
                    <a:lumMod val="95000"/>
                  </a:schemeClr>
                </a:solidFill>
              </a:rPr>
              <a:t>The area of CL remains the same and maximum due to the highest and most significant contribution of CL towards economic benefit.</a:t>
            </a:r>
          </a:p>
        </p:txBody>
      </p:sp>
      <p:cxnSp>
        <p:nvCxnSpPr>
          <p:cNvPr id="8" name="Straight Connector 7">
            <a:extLst>
              <a:ext uri="{FF2B5EF4-FFF2-40B4-BE49-F238E27FC236}">
                <a16:creationId xmlns:a16="http://schemas.microsoft.com/office/drawing/2014/main" id="{1B47F501-9806-6555-391E-66BF86957B49}"/>
              </a:ext>
            </a:extLst>
          </p:cNvPr>
          <p:cNvCxnSpPr/>
          <p:nvPr/>
        </p:nvCxnSpPr>
        <p:spPr>
          <a:xfrm>
            <a:off x="4355976" y="2715766"/>
            <a:ext cx="446449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Straight Connector 10">
            <a:extLst>
              <a:ext uri="{FF2B5EF4-FFF2-40B4-BE49-F238E27FC236}">
                <a16:creationId xmlns:a16="http://schemas.microsoft.com/office/drawing/2014/main" id="{7885A4C3-C951-0320-9695-2204305C51F8}"/>
              </a:ext>
            </a:extLst>
          </p:cNvPr>
          <p:cNvCxnSpPr/>
          <p:nvPr/>
        </p:nvCxnSpPr>
        <p:spPr>
          <a:xfrm>
            <a:off x="4355976" y="3795886"/>
            <a:ext cx="446449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Straight Connector 11">
            <a:extLst>
              <a:ext uri="{FF2B5EF4-FFF2-40B4-BE49-F238E27FC236}">
                <a16:creationId xmlns:a16="http://schemas.microsoft.com/office/drawing/2014/main" id="{DEB4694E-18F5-AF6B-7C0F-14F8B7893773}"/>
              </a:ext>
            </a:extLst>
          </p:cNvPr>
          <p:cNvCxnSpPr/>
          <p:nvPr/>
        </p:nvCxnSpPr>
        <p:spPr>
          <a:xfrm>
            <a:off x="4355976" y="3291830"/>
            <a:ext cx="446449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3" name="Straight Connector 12">
            <a:extLst>
              <a:ext uri="{FF2B5EF4-FFF2-40B4-BE49-F238E27FC236}">
                <a16:creationId xmlns:a16="http://schemas.microsoft.com/office/drawing/2014/main" id="{D29283F8-7CF6-B5E7-FBED-E395124FFC43}"/>
              </a:ext>
            </a:extLst>
          </p:cNvPr>
          <p:cNvCxnSpPr/>
          <p:nvPr/>
        </p:nvCxnSpPr>
        <p:spPr>
          <a:xfrm>
            <a:off x="4355976" y="2139702"/>
            <a:ext cx="4464496" cy="0"/>
          </a:xfrm>
          <a:prstGeom prst="line">
            <a:avLst/>
          </a:prstGeom>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4278182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3" grpId="0">
        <p:bldAsOne/>
      </p:bldGraphic>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834FAF-3227-F121-019A-6315363E8763}"/>
              </a:ext>
            </a:extLst>
          </p:cNvPr>
          <p:cNvSpPr txBox="1"/>
          <p:nvPr/>
        </p:nvSpPr>
        <p:spPr>
          <a:xfrm>
            <a:off x="485502" y="45868"/>
            <a:ext cx="6102722" cy="400110"/>
          </a:xfrm>
          <a:prstGeom prst="rect">
            <a:avLst/>
          </a:prstGeom>
          <a:noFill/>
        </p:spPr>
        <p:txBody>
          <a:bodyPr wrap="square" rtlCol="0">
            <a:spAutoFit/>
          </a:bodyPr>
          <a:lstStyle/>
          <a:p>
            <a:pPr marL="285750" indent="-285750">
              <a:buFont typeface="Arial" panose="020B0604020202020204" pitchFamily="34" charset="0"/>
              <a:buChar char="•"/>
            </a:pPr>
            <a:r>
              <a:rPr lang="en-IN" sz="2000" dirty="0">
                <a:solidFill>
                  <a:schemeClr val="accent1">
                    <a:lumMod val="75000"/>
                  </a:schemeClr>
                </a:solidFill>
              </a:rPr>
              <a:t>Analysis of Pollution loads and total economic benefits</a:t>
            </a:r>
            <a:endParaRPr lang="en-IN" dirty="0">
              <a:solidFill>
                <a:schemeClr val="accent1">
                  <a:lumMod val="75000"/>
                </a:schemeClr>
              </a:solidFill>
            </a:endParaRPr>
          </a:p>
        </p:txBody>
      </p:sp>
      <p:graphicFrame>
        <p:nvGraphicFramePr>
          <p:cNvPr id="4" name="Chart 3">
            <a:extLst>
              <a:ext uri="{FF2B5EF4-FFF2-40B4-BE49-F238E27FC236}">
                <a16:creationId xmlns:a16="http://schemas.microsoft.com/office/drawing/2014/main" id="{991F676F-1529-496C-4491-1C3685E3381C}"/>
              </a:ext>
            </a:extLst>
          </p:cNvPr>
          <p:cNvGraphicFramePr>
            <a:graphicFrameLocks/>
          </p:cNvGraphicFramePr>
          <p:nvPr>
            <p:extLst>
              <p:ext uri="{D42A27DB-BD31-4B8C-83A1-F6EECF244321}">
                <p14:modId xmlns:p14="http://schemas.microsoft.com/office/powerpoint/2010/main" val="275687807"/>
              </p:ext>
            </p:extLst>
          </p:nvPr>
        </p:nvGraphicFramePr>
        <p:xfrm>
          <a:off x="395536" y="445978"/>
          <a:ext cx="4320480" cy="255782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C24BC192-3201-AC4B-D9BA-C29F9C4BF173}"/>
              </a:ext>
            </a:extLst>
          </p:cNvPr>
          <p:cNvSpPr txBox="1"/>
          <p:nvPr/>
        </p:nvSpPr>
        <p:spPr>
          <a:xfrm>
            <a:off x="5076056" y="483518"/>
            <a:ext cx="3384376" cy="2031325"/>
          </a:xfrm>
          <a:prstGeom prst="rect">
            <a:avLst/>
          </a:prstGeom>
          <a:noFill/>
        </p:spPr>
        <p:txBody>
          <a:bodyPr wrap="square" rtlCol="0">
            <a:spAutoFit/>
          </a:bodyPr>
          <a:lstStyle/>
          <a:p>
            <a:pPr marL="171450" indent="-171450">
              <a:buFont typeface="Arial" panose="020B0604020202020204" pitchFamily="34" charset="0"/>
              <a:buChar char="•"/>
            </a:pPr>
            <a:r>
              <a:rPr lang="en-IN" sz="1400" dirty="0">
                <a:solidFill>
                  <a:schemeClr val="bg1">
                    <a:lumMod val="95000"/>
                  </a:schemeClr>
                </a:solidFill>
              </a:rPr>
              <a:t>From the given TN, TP vs optimization scenarios graph we can see that the pollution loads decrease with increase in pollution reduction constraints.</a:t>
            </a:r>
          </a:p>
          <a:p>
            <a:pPr marL="171450" indent="-171450">
              <a:buFont typeface="Arial" panose="020B0604020202020204" pitchFamily="34" charset="0"/>
              <a:buChar char="•"/>
            </a:pPr>
            <a:r>
              <a:rPr lang="en-IN" sz="1400" dirty="0">
                <a:solidFill>
                  <a:schemeClr val="bg1">
                    <a:lumMod val="95000"/>
                  </a:schemeClr>
                </a:solidFill>
              </a:rPr>
              <a:t>Thus, we have successfully obtained the required optimization results i.e. we have decreased the pollution loads with increase in optimization conditions and parameters. </a:t>
            </a:r>
          </a:p>
        </p:txBody>
      </p:sp>
      <p:graphicFrame>
        <p:nvGraphicFramePr>
          <p:cNvPr id="6" name="Chart 5">
            <a:extLst>
              <a:ext uri="{FF2B5EF4-FFF2-40B4-BE49-F238E27FC236}">
                <a16:creationId xmlns:a16="http://schemas.microsoft.com/office/drawing/2014/main" id="{6FA63D5C-20D0-3B5D-4B25-2643CC8CEBF8}"/>
              </a:ext>
            </a:extLst>
          </p:cNvPr>
          <p:cNvGraphicFramePr>
            <a:graphicFrameLocks/>
          </p:cNvGraphicFramePr>
          <p:nvPr>
            <p:extLst>
              <p:ext uri="{D42A27DB-BD31-4B8C-83A1-F6EECF244321}">
                <p14:modId xmlns:p14="http://schemas.microsoft.com/office/powerpoint/2010/main" val="2366787432"/>
              </p:ext>
            </p:extLst>
          </p:nvPr>
        </p:nvGraphicFramePr>
        <p:xfrm>
          <a:off x="5220072" y="2571750"/>
          <a:ext cx="3672408" cy="237626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9FC1112E-579B-97A9-9F19-1E444670C2E9}"/>
              </a:ext>
            </a:extLst>
          </p:cNvPr>
          <p:cNvSpPr txBox="1"/>
          <p:nvPr/>
        </p:nvSpPr>
        <p:spPr>
          <a:xfrm>
            <a:off x="611560" y="3147814"/>
            <a:ext cx="3816424" cy="1815882"/>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chemeClr val="bg1">
                    <a:lumMod val="95000"/>
                  </a:schemeClr>
                </a:solidFill>
              </a:rPr>
              <a:t>Thus, from the graph of economic benefit for various optimization scenarios we can see that the economic benefit falls as we increase the constraints on pollution reduction.</a:t>
            </a:r>
          </a:p>
          <a:p>
            <a:pPr marL="285750" indent="-285750">
              <a:buFont typeface="Arial" panose="020B0604020202020204" pitchFamily="34" charset="0"/>
              <a:buChar char="•"/>
            </a:pPr>
            <a:r>
              <a:rPr lang="en-IN" sz="1400" dirty="0">
                <a:solidFill>
                  <a:schemeClr val="bg1">
                    <a:lumMod val="95000"/>
                  </a:schemeClr>
                </a:solidFill>
              </a:rPr>
              <a:t>This is bound to happen as the increase in pollution reduction causes decrease in land areas which ultimately reduces the economic benefit.</a:t>
            </a:r>
          </a:p>
        </p:txBody>
      </p:sp>
    </p:spTree>
    <p:extLst>
      <p:ext uri="{BB962C8B-B14F-4D97-AF65-F5344CB8AC3E}">
        <p14:creationId xmlns:p14="http://schemas.microsoft.com/office/powerpoint/2010/main" val="149178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p:bldGraphic spid="6" grpId="0">
        <p:bldAsOne/>
      </p:bldGraphic>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F73AA5-7875-9886-A5DE-D98B2A64169F}"/>
              </a:ext>
            </a:extLst>
          </p:cNvPr>
          <p:cNvSpPr txBox="1"/>
          <p:nvPr/>
        </p:nvSpPr>
        <p:spPr>
          <a:xfrm>
            <a:off x="323528" y="123478"/>
            <a:ext cx="7776864" cy="461665"/>
          </a:xfrm>
          <a:prstGeom prst="rect">
            <a:avLst/>
          </a:prstGeom>
          <a:noFill/>
        </p:spPr>
        <p:txBody>
          <a:bodyPr wrap="square" rtlCol="0">
            <a:spAutoFit/>
          </a:bodyPr>
          <a:lstStyle/>
          <a:p>
            <a:r>
              <a:rPr lang="en-IN" sz="2400" dirty="0">
                <a:solidFill>
                  <a:schemeClr val="tx2">
                    <a:lumMod val="75000"/>
                  </a:schemeClr>
                </a:solidFill>
              </a:rPr>
              <a:t>Analysis of NPS Pollution with Multi-objective Optimization</a:t>
            </a:r>
          </a:p>
        </p:txBody>
      </p:sp>
      <p:pic>
        <p:nvPicPr>
          <p:cNvPr id="4" name="Picture 3">
            <a:extLst>
              <a:ext uri="{FF2B5EF4-FFF2-40B4-BE49-F238E27FC236}">
                <a16:creationId xmlns:a16="http://schemas.microsoft.com/office/drawing/2014/main" id="{45517418-47A2-E0C1-4EE9-52E4D1174B0C}"/>
              </a:ext>
            </a:extLst>
          </p:cNvPr>
          <p:cNvPicPr>
            <a:picLocks noChangeAspect="1"/>
          </p:cNvPicPr>
          <p:nvPr/>
        </p:nvPicPr>
        <p:blipFill>
          <a:blip r:embed="rId2"/>
          <a:stretch>
            <a:fillRect/>
          </a:stretch>
        </p:blipFill>
        <p:spPr>
          <a:xfrm>
            <a:off x="395536" y="771550"/>
            <a:ext cx="4536504" cy="3816424"/>
          </a:xfrm>
          <a:prstGeom prst="rect">
            <a:avLst/>
          </a:prstGeom>
        </p:spPr>
      </p:pic>
      <p:sp>
        <p:nvSpPr>
          <p:cNvPr id="5" name="TextBox 4">
            <a:extLst>
              <a:ext uri="{FF2B5EF4-FFF2-40B4-BE49-F238E27FC236}">
                <a16:creationId xmlns:a16="http://schemas.microsoft.com/office/drawing/2014/main" id="{1B7B46D2-B000-F1CF-5814-C71FBAB57739}"/>
              </a:ext>
            </a:extLst>
          </p:cNvPr>
          <p:cNvSpPr txBox="1"/>
          <p:nvPr/>
        </p:nvSpPr>
        <p:spPr>
          <a:xfrm>
            <a:off x="5292080" y="771550"/>
            <a:ext cx="3528392" cy="3785652"/>
          </a:xfrm>
          <a:prstGeom prst="rect">
            <a:avLst/>
          </a:prstGeom>
          <a:noFill/>
        </p:spPr>
        <p:txBody>
          <a:bodyPr wrap="square" rtlCol="0">
            <a:spAutoFit/>
          </a:bodyPr>
          <a:lstStyle/>
          <a:p>
            <a:pPr marL="171450" indent="-171450">
              <a:buFont typeface="Arial" panose="020B0604020202020204" pitchFamily="34" charset="0"/>
              <a:buChar char="•"/>
            </a:pPr>
            <a:r>
              <a:rPr lang="en-IN" sz="1200" dirty="0">
                <a:solidFill>
                  <a:schemeClr val="bg1"/>
                </a:solidFill>
              </a:rPr>
              <a:t>From the analysis of the pareto front obtained we can conclude that Economic benefit and total pollution load are inversely related.</a:t>
            </a:r>
          </a:p>
          <a:p>
            <a:pPr marL="171450" indent="-171450">
              <a:buFont typeface="Arial" panose="020B0604020202020204" pitchFamily="34" charset="0"/>
              <a:buChar char="•"/>
            </a:pPr>
            <a:r>
              <a:rPr lang="en-IN" sz="1200" dirty="0">
                <a:solidFill>
                  <a:schemeClr val="bg1"/>
                </a:solidFill>
              </a:rPr>
              <a:t>Increase in the pollution reduction constraints causes a decrease in the economic benefit and vice versa.</a:t>
            </a:r>
          </a:p>
          <a:p>
            <a:pPr marL="171450" indent="-171450">
              <a:buFont typeface="Arial" panose="020B0604020202020204" pitchFamily="34" charset="0"/>
              <a:buChar char="•"/>
            </a:pPr>
            <a:r>
              <a:rPr lang="en-IN" sz="1200" dirty="0">
                <a:solidFill>
                  <a:schemeClr val="bg1"/>
                </a:solidFill>
              </a:rPr>
              <a:t>Also, if we want to provide analysis of Pollution load with Economic Benefit plotting the pareto front is much better than manually reducing the SDn and SDp values for each linear programming scenario and then performing the calculations.</a:t>
            </a:r>
          </a:p>
          <a:p>
            <a:pPr marL="171450" indent="-171450">
              <a:buFont typeface="Arial" panose="020B0604020202020204" pitchFamily="34" charset="0"/>
              <a:buChar char="•"/>
            </a:pPr>
            <a:r>
              <a:rPr lang="en-IN" sz="1200" dirty="0">
                <a:solidFill>
                  <a:schemeClr val="bg1"/>
                </a:solidFill>
              </a:rPr>
              <a:t>Also using pareto front we can observe the points and analyse the solutions where we can obtain maximum economic benefit and minimum pollution loads.</a:t>
            </a:r>
          </a:p>
          <a:p>
            <a:pPr marL="171450" indent="-171450">
              <a:buFont typeface="Arial" panose="020B0604020202020204" pitchFamily="34" charset="0"/>
              <a:buChar char="•"/>
            </a:pPr>
            <a:r>
              <a:rPr lang="en-IN" sz="1200" dirty="0">
                <a:solidFill>
                  <a:schemeClr val="bg1"/>
                </a:solidFill>
              </a:rPr>
              <a:t>From our analysis both the parameters will not reach their respective optima simultaneously but selecting some point in the middle of the pareto front may provide a feasible and considerably optimal solution.</a:t>
            </a:r>
          </a:p>
        </p:txBody>
      </p:sp>
    </p:spTree>
    <p:extLst>
      <p:ext uri="{BB962C8B-B14F-4D97-AF65-F5344CB8AC3E}">
        <p14:creationId xmlns:p14="http://schemas.microsoft.com/office/powerpoint/2010/main" val="4030246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D3955E-E446-A38C-83DD-830DF04112D8}"/>
              </a:ext>
            </a:extLst>
          </p:cNvPr>
          <p:cNvPicPr>
            <a:picLocks noChangeAspect="1"/>
          </p:cNvPicPr>
          <p:nvPr/>
        </p:nvPicPr>
        <p:blipFill>
          <a:blip r:embed="rId2"/>
          <a:stretch>
            <a:fillRect/>
          </a:stretch>
        </p:blipFill>
        <p:spPr>
          <a:xfrm>
            <a:off x="251520" y="205755"/>
            <a:ext cx="5112568" cy="4731990"/>
          </a:xfrm>
          <a:prstGeom prst="rect">
            <a:avLst/>
          </a:prstGeom>
        </p:spPr>
      </p:pic>
      <p:sp>
        <p:nvSpPr>
          <p:cNvPr id="4" name="TextBox 3">
            <a:extLst>
              <a:ext uri="{FF2B5EF4-FFF2-40B4-BE49-F238E27FC236}">
                <a16:creationId xmlns:a16="http://schemas.microsoft.com/office/drawing/2014/main" id="{1F602CA9-5ECB-E3AB-C7F3-BCB87A03BCC6}"/>
              </a:ext>
            </a:extLst>
          </p:cNvPr>
          <p:cNvSpPr txBox="1"/>
          <p:nvPr/>
        </p:nvSpPr>
        <p:spPr>
          <a:xfrm>
            <a:off x="5633822" y="205755"/>
            <a:ext cx="3240360" cy="4893647"/>
          </a:xfrm>
          <a:prstGeom prst="rect">
            <a:avLst/>
          </a:prstGeom>
          <a:noFill/>
        </p:spPr>
        <p:txBody>
          <a:bodyPr wrap="square" rtlCol="0">
            <a:spAutoFit/>
          </a:bodyPr>
          <a:lstStyle/>
          <a:p>
            <a:pPr marL="171450" indent="-171450">
              <a:buFont typeface="Arial" panose="020B0604020202020204" pitchFamily="34" charset="0"/>
              <a:buChar char="•"/>
            </a:pPr>
            <a:r>
              <a:rPr lang="en-IN" sz="1300" dirty="0">
                <a:solidFill>
                  <a:schemeClr val="bg1"/>
                </a:solidFill>
              </a:rPr>
              <a:t>For maximum economic benefit, we obtain a solution we value of AL area slightly higher than base year AL area.  The maximum economic benefit is 80251 units which is higher than the maximum of all economic benefits obtained through single objective linear programming techniques.</a:t>
            </a:r>
          </a:p>
          <a:p>
            <a:pPr marL="171450" indent="-171450">
              <a:buFont typeface="Arial" panose="020B0604020202020204" pitchFamily="34" charset="0"/>
              <a:buChar char="•"/>
            </a:pPr>
            <a:r>
              <a:rPr lang="en-IN" sz="1300" dirty="0">
                <a:solidFill>
                  <a:schemeClr val="bg1"/>
                </a:solidFill>
              </a:rPr>
              <a:t>While economic benefit is higher for this solution the pollution load value is also quite high i.e. 6008.6 t/yr. This value is slightly higher than the maximum value of pollution load obtained through previous analysis i.e. 5810 t/yr.</a:t>
            </a:r>
          </a:p>
          <a:p>
            <a:pPr marL="171450" indent="-171450">
              <a:buFont typeface="Arial" panose="020B0604020202020204" pitchFamily="34" charset="0"/>
              <a:buChar char="•"/>
            </a:pPr>
            <a:endParaRPr lang="en-IN" sz="1300" dirty="0">
              <a:solidFill>
                <a:schemeClr val="bg1"/>
              </a:solidFill>
            </a:endParaRPr>
          </a:p>
          <a:p>
            <a:pPr marL="171450" indent="-171450">
              <a:buFont typeface="Arial" panose="020B0604020202020204" pitchFamily="34" charset="0"/>
              <a:buChar char="•"/>
            </a:pPr>
            <a:r>
              <a:rPr lang="en-IN" sz="1300" dirty="0">
                <a:solidFill>
                  <a:schemeClr val="bg1"/>
                </a:solidFill>
              </a:rPr>
              <a:t>The solution with minimum pollution load has a very low economic  benefit of 66808 units but the pollution load is 4010.2 t/yr.</a:t>
            </a:r>
          </a:p>
          <a:p>
            <a:pPr marL="171450" indent="-171450">
              <a:buFont typeface="Arial" panose="020B0604020202020204" pitchFamily="34" charset="0"/>
              <a:buChar char="•"/>
            </a:pPr>
            <a:r>
              <a:rPr lang="en-IN" sz="1300" dirty="0">
                <a:solidFill>
                  <a:schemeClr val="bg1"/>
                </a:solidFill>
              </a:rPr>
              <a:t>The pollution load is less than the minimum of all the pollution loads obtained through previous analysis i.e. 4632.5 t/yr.</a:t>
            </a:r>
          </a:p>
          <a:p>
            <a:pPr marL="171450" indent="-171450">
              <a:buFont typeface="Arial" panose="020B0604020202020204" pitchFamily="34" charset="0"/>
              <a:buChar char="•"/>
            </a:pPr>
            <a:r>
              <a:rPr lang="en-IN" sz="1300" dirty="0">
                <a:solidFill>
                  <a:schemeClr val="bg1"/>
                </a:solidFill>
              </a:rPr>
              <a:t>Also, a significant decrease has been made in the FL area to reduce the pollution loads.</a:t>
            </a:r>
          </a:p>
        </p:txBody>
      </p:sp>
      <p:cxnSp>
        <p:nvCxnSpPr>
          <p:cNvPr id="6" name="Straight Arrow Connector 5">
            <a:extLst>
              <a:ext uri="{FF2B5EF4-FFF2-40B4-BE49-F238E27FC236}">
                <a16:creationId xmlns:a16="http://schemas.microsoft.com/office/drawing/2014/main" id="{0E333A92-9662-DB73-31B1-E5D0FB311EF3}"/>
              </a:ext>
            </a:extLst>
          </p:cNvPr>
          <p:cNvCxnSpPr/>
          <p:nvPr/>
        </p:nvCxnSpPr>
        <p:spPr>
          <a:xfrm flipH="1">
            <a:off x="1127220" y="1995686"/>
            <a:ext cx="432048" cy="72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6D1AA61-6A70-6205-1D13-C1B614D32E9C}"/>
              </a:ext>
            </a:extLst>
          </p:cNvPr>
          <p:cNvCxnSpPr/>
          <p:nvPr/>
        </p:nvCxnSpPr>
        <p:spPr>
          <a:xfrm flipH="1">
            <a:off x="1127220" y="2355726"/>
            <a:ext cx="432048" cy="72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C5E81A7-A5BA-C42B-40F3-498AA07EF4A3}"/>
              </a:ext>
            </a:extLst>
          </p:cNvPr>
          <p:cNvCxnSpPr>
            <a:cxnSpLocks/>
          </p:cNvCxnSpPr>
          <p:nvPr/>
        </p:nvCxnSpPr>
        <p:spPr>
          <a:xfrm flipH="1">
            <a:off x="1122543" y="4371950"/>
            <a:ext cx="436725"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0921BA3-6384-CFAA-0231-3DD1DB189038}"/>
              </a:ext>
            </a:extLst>
          </p:cNvPr>
          <p:cNvCxnSpPr>
            <a:cxnSpLocks/>
          </p:cNvCxnSpPr>
          <p:nvPr/>
        </p:nvCxnSpPr>
        <p:spPr>
          <a:xfrm flipH="1">
            <a:off x="1147534" y="4654847"/>
            <a:ext cx="436725"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27A68AD-FC61-6F0E-B62B-5EFB29210BC7}"/>
              </a:ext>
            </a:extLst>
          </p:cNvPr>
          <p:cNvCxnSpPr/>
          <p:nvPr/>
        </p:nvCxnSpPr>
        <p:spPr>
          <a:xfrm>
            <a:off x="1340905" y="411510"/>
            <a:ext cx="1142863" cy="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E1E2ABF-523D-B7FC-F0C8-770EBD4567C7}"/>
              </a:ext>
            </a:extLst>
          </p:cNvPr>
          <p:cNvCxnSpPr/>
          <p:nvPr/>
        </p:nvCxnSpPr>
        <p:spPr>
          <a:xfrm>
            <a:off x="1340904" y="2859782"/>
            <a:ext cx="1142863"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47085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914400" y="1028700"/>
          <a:ext cx="8229600" cy="3629025"/>
          <a:chOff x="914400" y="1028700"/>
          <a:chExt cx="8229600" cy="3629025"/>
        </a:xfrm>
      </p:grpSpPr>
      <p:sp>
        <p:nvSpPr>
          <p:cNvPr id="2" name="TextBox 1"/>
          <p:cNvSpPr txBox="1"/>
          <p:nvPr/>
        </p:nvSpPr>
        <p:spPr>
          <a:xfrm>
            <a:off x="1187624" y="339502"/>
            <a:ext cx="2952328" cy="523220"/>
          </a:xfrm>
          <a:prstGeom prst="rect">
            <a:avLst/>
          </a:prstGeom>
          <a:noFill/>
        </p:spPr>
        <p:txBody>
          <a:bodyPr vert="horz" wrap="square"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FFAB40">
                    <a:alpha val="100000"/>
                  </a:srgbClr>
                </a:solidFill>
                <a:latin typeface="Calibri"/>
              </a:rPr>
              <a:t>Conclusions</a:t>
            </a:r>
          </a:p>
        </p:txBody>
      </p:sp>
      <p:sp>
        <p:nvSpPr>
          <p:cNvPr id="3" name="TextBox 2"/>
          <p:cNvSpPr txBox="1"/>
          <p:nvPr/>
        </p:nvSpPr>
        <p:spPr>
          <a:xfrm>
            <a:off x="899592" y="862722"/>
            <a:ext cx="3672408" cy="3970318"/>
          </a:xfrm>
          <a:prstGeom prst="rect">
            <a:avLst/>
          </a:prstGeom>
          <a:noFill/>
        </p:spPr>
        <p:txBody>
          <a:bodyPr vert="horz" wrap="square" lIns="91440" tIns="45720" rIns="91440" bIns="45720" rtlCol="0" anchorCtr="0">
            <a:spAutoFit/>
          </a:bodyPr>
          <a:lstStyle/>
          <a:p>
            <a:pPr marL="285750" marR="0" lvl="0" indent="-285750" algn="l" rtl="0" fontAlgn="base">
              <a:lnSpc>
                <a:spcPct val="100000"/>
              </a:lnSpc>
              <a:spcBef>
                <a:spcPts val="0"/>
              </a:spcBef>
              <a:spcAft>
                <a:spcPts val="0"/>
              </a:spcAft>
              <a:buFont typeface="Arial" panose="020B0604020202020204" pitchFamily="34" charset="0"/>
              <a:buChar char="•"/>
            </a:pPr>
            <a:r>
              <a:rPr lang="en-US" sz="1400" u="none" strike="noStrike" cap="none" spc="0" dirty="0">
                <a:solidFill>
                  <a:srgbClr val="FFFFFF">
                    <a:alpha val="100000"/>
                  </a:srgbClr>
                </a:solidFill>
                <a:latin typeface="Calibri"/>
              </a:rPr>
              <a:t>For reducing pollution reduction significant reduction in FL area is necessary and CL area should be maximized for increasing the economic benefit. </a:t>
            </a:r>
          </a:p>
          <a:p>
            <a:pPr marL="285750" marR="0" lvl="0" indent="-285750" algn="l" rtl="0" fontAlgn="base">
              <a:lnSpc>
                <a:spcPct val="100000"/>
              </a:lnSpc>
              <a:spcBef>
                <a:spcPts val="0"/>
              </a:spcBef>
              <a:spcAft>
                <a:spcPts val="0"/>
              </a:spcAft>
              <a:buFont typeface="Arial" panose="020B0604020202020204" pitchFamily="34" charset="0"/>
              <a:buChar char="•"/>
            </a:pPr>
            <a:r>
              <a:rPr lang="en-US" sz="1400" u="none" strike="noStrike" cap="none" spc="0" dirty="0">
                <a:solidFill>
                  <a:srgbClr val="FFFFFF">
                    <a:alpha val="100000"/>
                  </a:srgbClr>
                </a:solidFill>
                <a:latin typeface="Calibri"/>
              </a:rPr>
              <a:t>Simultaneous optimization of economic benefit and pollution load is unattainable.
A multi-objective approach helps decision-makers prioritize strategies and hence reach to an optimum solution according to the parameters, conditions and physical constraints of the problem at hand.
 Policy makers of Delhi can use the benefits of such case studies in order to design optimum mathematical models to optimize the economic benefit as well as reduce pollution load due to NPS pollution. Pollution is already a major issue and an area of core interest for Delhi</a:t>
            </a:r>
          </a:p>
        </p:txBody>
      </p:sp>
      <p:sp>
        <p:nvSpPr>
          <p:cNvPr id="4" name="TextBox 3"/>
          <p:cNvSpPr txBox="1"/>
          <p:nvPr/>
        </p:nvSpPr>
        <p:spPr>
          <a:xfrm>
            <a:off x="5436096" y="339502"/>
            <a:ext cx="2016224" cy="523220"/>
          </a:xfrm>
          <a:prstGeom prst="rect">
            <a:avLst/>
          </a:prstGeom>
          <a:noFill/>
        </p:spPr>
        <p:txBody>
          <a:bodyPr vert="horz" wrap="square" lIns="91440" tIns="45720" rIns="91440" bIns="45720" rtlCol="0" anchor="t" anchorCtr="0">
            <a:spAutoFit/>
          </a:bodyPr>
          <a:lstStyle/>
          <a:p>
            <a:pPr marL="0" marR="0" lvl="0" indent="0" algn="l" rtl="0" fontAlgn="t">
              <a:lnSpc>
                <a:spcPct val="100000"/>
              </a:lnSpc>
              <a:spcBef>
                <a:spcPts val="0"/>
              </a:spcBef>
              <a:spcAft>
                <a:spcPts val="0"/>
              </a:spcAft>
            </a:pPr>
            <a:r>
              <a:rPr lang="en-US" sz="2800" b="1" u="none" strike="noStrike" cap="none" spc="0" dirty="0">
                <a:solidFill>
                  <a:srgbClr val="FFAB40">
                    <a:alpha val="100000"/>
                  </a:srgbClr>
                </a:solidFill>
                <a:latin typeface="Calibri"/>
              </a:rPr>
              <a:t>References</a:t>
            </a:r>
          </a:p>
        </p:txBody>
      </p:sp>
      <p:sp>
        <p:nvSpPr>
          <p:cNvPr id="5" name="TextBox 4"/>
          <p:cNvSpPr txBox="1"/>
          <p:nvPr/>
        </p:nvSpPr>
        <p:spPr>
          <a:xfrm>
            <a:off x="4872310" y="862722"/>
            <a:ext cx="3588122" cy="3177473"/>
          </a:xfrm>
          <a:prstGeom prst="rect">
            <a:avLst/>
          </a:prstGeom>
          <a:noFill/>
        </p:spPr>
        <p:txBody>
          <a:bodyPr vert="horz" wrap="square" lIns="91440" tIns="45720" rIns="91440" bIns="45720" rtlCol="0" anchorCtr="0">
            <a:spAutoFit/>
          </a:bodyPr>
          <a:lstStyle/>
          <a:p>
            <a:pPr marL="285750" marR="0" lvl="0" indent="-285750" algn="l" rtl="0" fontAlgn="base">
              <a:lnSpc>
                <a:spcPct val="120000"/>
              </a:lnSpc>
              <a:spcBef>
                <a:spcPts val="0"/>
              </a:spcBef>
              <a:spcAft>
                <a:spcPts val="0"/>
              </a:spcAft>
              <a:buClr>
                <a:srgbClr val="FFFFFF">
                  <a:alpha val="100000"/>
                </a:srgbClr>
              </a:buClr>
              <a:buFont typeface="Arial" panose="020B0604020202020204" pitchFamily="34" charset="0"/>
              <a:buChar char="•"/>
            </a:pPr>
            <a:r>
              <a:rPr lang="en-US" sz="1400" u="none" strike="noStrike" cap="none" dirty="0">
                <a:solidFill>
                  <a:srgbClr val="FFFFFF">
                    <a:alpha val="100000"/>
                  </a:srgbClr>
                </a:solidFill>
                <a:latin typeface="Calibri"/>
              </a:rPr>
              <a:t> Research articles and data were referenced from the Export Coefficient Model documentation.</a:t>
            </a:r>
          </a:p>
          <a:p>
            <a:pPr marL="285750" marR="0" lvl="0" indent="-285750" algn="l" rtl="0" fontAlgn="base">
              <a:lnSpc>
                <a:spcPct val="120000"/>
              </a:lnSpc>
              <a:spcBef>
                <a:spcPts val="0"/>
              </a:spcBef>
              <a:spcAft>
                <a:spcPts val="0"/>
              </a:spcAft>
              <a:buClr>
                <a:srgbClr val="FFFFFF">
                  <a:alpha val="100000"/>
                </a:srgbClr>
              </a:buClr>
              <a:buFont typeface="Arial" panose="020B0604020202020204" pitchFamily="34" charset="0"/>
              <a:buChar char="•"/>
            </a:pPr>
            <a:r>
              <a:rPr lang="en-US" sz="1400" u="none" strike="noStrike" cap="none" dirty="0">
                <a:solidFill>
                  <a:srgbClr val="FFFFFF">
                    <a:alpha val="100000"/>
                  </a:srgbClr>
                </a:solidFill>
                <a:latin typeface="Calibri"/>
              </a:rPr>
              <a:t> Data about land use was sourced from Bhuvan ISRO portal.</a:t>
            </a:r>
          </a:p>
          <a:p>
            <a:pPr marL="285750" marR="0" lvl="0" indent="-285750" algn="l" rtl="0" fontAlgn="base">
              <a:lnSpc>
                <a:spcPct val="120000"/>
              </a:lnSpc>
              <a:spcBef>
                <a:spcPts val="0"/>
              </a:spcBef>
              <a:spcAft>
                <a:spcPts val="0"/>
              </a:spcAft>
              <a:buClr>
                <a:srgbClr val="FFFFFF">
                  <a:alpha val="100000"/>
                </a:srgbClr>
              </a:buClr>
              <a:buFont typeface="Arial" panose="020B0604020202020204" pitchFamily="34" charset="0"/>
              <a:buChar char="•"/>
            </a:pPr>
            <a:r>
              <a:rPr lang="en-US" sz="1400" u="none" strike="noStrike" cap="none" dirty="0">
                <a:solidFill>
                  <a:srgbClr val="FFFFFF">
                    <a:alpha val="100000"/>
                  </a:srgbClr>
                </a:solidFill>
                <a:latin typeface="Calibri"/>
              </a:rPr>
              <a:t> Referential cases studied include previous analyses conducted in Xinfeng County.</a:t>
            </a:r>
          </a:p>
          <a:p>
            <a:pPr marL="285750" marR="0" lvl="0" indent="-285750" algn="l" rtl="0" fontAlgn="base">
              <a:lnSpc>
                <a:spcPct val="120000"/>
              </a:lnSpc>
              <a:spcBef>
                <a:spcPts val="0"/>
              </a:spcBef>
              <a:spcAft>
                <a:spcPts val="0"/>
              </a:spcAft>
              <a:buClr>
                <a:srgbClr val="FFFFFF">
                  <a:alpha val="100000"/>
                </a:srgbClr>
              </a:buClr>
              <a:buFont typeface="Arial" panose="020B0604020202020204" pitchFamily="34" charset="0"/>
              <a:buChar char="•"/>
            </a:pPr>
            <a:r>
              <a:rPr lang="en-US" sz="1400" u="none" strike="noStrike" cap="none" dirty="0">
                <a:solidFill>
                  <a:srgbClr val="FFFFFF">
                    <a:alpha val="100000"/>
                  </a:srgbClr>
                </a:solidFill>
                <a:latin typeface="Calibri"/>
              </a:rPr>
              <a:t>Rese</a:t>
            </a:r>
            <a:r>
              <a:rPr lang="en-US" sz="1400" dirty="0">
                <a:solidFill>
                  <a:srgbClr val="FFFFFF">
                    <a:alpha val="100000"/>
                  </a:srgbClr>
                </a:solidFill>
                <a:latin typeface="Calibri"/>
              </a:rPr>
              <a:t>arch paper by Shuwa Zhu and Jingni Zeng </a:t>
            </a:r>
            <a:r>
              <a:rPr lang="en-US" sz="1400" dirty="0">
                <a:solidFill>
                  <a:schemeClr val="bg1"/>
                </a:solidFill>
                <a:latin typeface="Calibri"/>
              </a:rPr>
              <a:t>on </a:t>
            </a:r>
            <a:r>
              <a:rPr lang="en-US" sz="1400" dirty="0">
                <a:solidFill>
                  <a:schemeClr val="bg1"/>
                </a:solidFill>
              </a:rPr>
              <a:t>Export Coefficient Based Linear Programming Model for Regional Land-Use Optimization Considering Control of Non-Point Source Pollution</a:t>
            </a:r>
            <a:endParaRPr lang="en-US" sz="1400" u="none" strike="noStrike" cap="none" dirty="0">
              <a:solidFill>
                <a:schemeClr val="bg1"/>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fade">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1828800" y="1028700"/>
          <a:ext cx="7315200" cy="3581400"/>
          <a:chOff x="1828800" y="1028700"/>
          <a:chExt cx="7315200" cy="3581400"/>
        </a:xfrm>
      </p:grpSpPr>
      <p:sp>
        <p:nvSpPr>
          <p:cNvPr id="2" name="TextBox 1"/>
          <p:cNvSpPr txBox="1"/>
          <p:nvPr/>
        </p:nvSpPr>
        <p:spPr>
          <a:xfrm>
            <a:off x="1828800" y="1028700"/>
            <a:ext cx="5486400" cy="857250"/>
          </a:xfrm>
          <a:prstGeom prst="rect">
            <a:avLst/>
          </a:prstGeom>
          <a:noFill/>
        </p:spPr>
        <p:txBody>
          <a:bodyPr vert="horz" lIns="91440" tIns="45720" rIns="91440" bIns="45720" rtlCol="0" anchor="t" anchorCtr="0">
            <a:spAutoFit/>
          </a:bodyPr>
          <a:lstStyle/>
          <a:p>
            <a:pPr marL="0" marR="0" lvl="0" indent="0" algn="ctr" rtl="0" fontAlgn="t">
              <a:lnSpc>
                <a:spcPct val="100000"/>
              </a:lnSpc>
              <a:spcBef>
                <a:spcPts val="0"/>
              </a:spcBef>
              <a:spcAft>
                <a:spcPts val="0"/>
              </a:spcAft>
            </a:pPr>
            <a:r>
              <a:rPr lang="en-US" sz="6000" b="1" u="none" strike="noStrike" cap="none" spc="0" dirty="0">
                <a:solidFill>
                  <a:srgbClr val="FFFFFF">
                    <a:alpha val="100000"/>
                  </a:srgbClr>
                </a:solidFill>
                <a:latin typeface="Calibri"/>
              </a:rPr>
              <a:t>Thank you!</a:t>
            </a:r>
          </a:p>
        </p:txBody>
      </p:sp>
      <p:sp>
        <p:nvSpPr>
          <p:cNvPr id="3" name="TextBox 2"/>
          <p:cNvSpPr txBox="1"/>
          <p:nvPr/>
        </p:nvSpPr>
        <p:spPr>
          <a:xfrm>
            <a:off x="1792983" y="2571750"/>
            <a:ext cx="5486400" cy="707886"/>
          </a:xfrm>
          <a:prstGeom prst="rect">
            <a:avLst/>
          </a:prstGeom>
          <a:noFill/>
        </p:spPr>
        <p:txBody>
          <a:bodyPr vert="horz" lIns="91440" tIns="45720" rIns="91440" bIns="45720" rtlCol="0" anchor="t" anchorCtr="0">
            <a:spAutoFit/>
          </a:bodyPr>
          <a:lstStyle/>
          <a:p>
            <a:pPr marL="0" marR="0" lvl="0" indent="0" algn="ctr" rtl="0" fontAlgn="t">
              <a:lnSpc>
                <a:spcPct val="100000"/>
              </a:lnSpc>
              <a:spcBef>
                <a:spcPts val="0"/>
              </a:spcBef>
              <a:spcAft>
                <a:spcPts val="0"/>
              </a:spcAft>
            </a:pPr>
            <a:r>
              <a:rPr lang="en-US" sz="2000" b="1" dirty="0">
                <a:solidFill>
                  <a:srgbClr val="FFAB40">
                    <a:alpha val="100000"/>
                  </a:srgbClr>
                </a:solidFill>
                <a:latin typeface="Calibri"/>
              </a:rPr>
              <a:t>Questions</a:t>
            </a:r>
            <a:endParaRPr lang="en-US" sz="2000" b="1" u="none" strike="noStrike" cap="none" spc="0" dirty="0">
              <a:solidFill>
                <a:srgbClr val="FFAB40">
                  <a:alpha val="100000"/>
                </a:srgbClr>
              </a:solidFill>
              <a:latin typeface="Calibri"/>
            </a:endParaRPr>
          </a:p>
          <a:p>
            <a:pPr marL="0" marR="0" lvl="0" indent="0" algn="ctr" rtl="0" fontAlgn="t">
              <a:lnSpc>
                <a:spcPct val="100000"/>
              </a:lnSpc>
              <a:spcBef>
                <a:spcPts val="0"/>
              </a:spcBef>
              <a:spcAft>
                <a:spcPts val="0"/>
              </a:spcAft>
            </a:pPr>
            <a:endParaRPr lang="en-US" sz="2000" b="1" u="none" strike="noStrike" cap="none" spc="0" dirty="0">
              <a:solidFill>
                <a:srgbClr val="FFAB40">
                  <a:alpha val="100000"/>
                </a:srgbClr>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theme/theme1.xml><?xml version="1.0" encoding="utf-8"?>
<a:theme xmlns:a="http://schemas.openxmlformats.org/drawingml/2006/main" name="Theme51">
  <a:themeElements>
    <a:clrScheme name="Theme51">
      <a:dk1>
        <a:sysClr val="windowText" lastClr="000000"/>
      </a:dk1>
      <a:lt1>
        <a:sysClr val="window" lastClr="FFFFFF"/>
      </a:lt1>
      <a:dk2>
        <a:srgbClr val="85D5E6"/>
      </a:dk2>
      <a:lt2>
        <a:srgbClr val="FFAB40"/>
      </a:lt2>
      <a:accent1>
        <a:srgbClr val="FFAB40"/>
      </a:accent1>
      <a:accent2>
        <a:srgbClr val="85D5E6"/>
      </a:accent2>
      <a:accent3>
        <a:srgbClr val="78909C"/>
      </a:accent3>
      <a:accent4>
        <a:srgbClr val="FFAB40"/>
      </a:accent4>
      <a:accent5>
        <a:srgbClr val="0097A7"/>
      </a:accent5>
      <a:accent6>
        <a:srgbClr val="001633"/>
      </a:accent6>
      <a:hlink>
        <a:srgbClr val="FFFFFF"/>
      </a:hlink>
      <a:folHlink>
        <a:srgbClr val="0097A7"/>
      </a:folHlink>
    </a:clrScheme>
    <a:fontScheme name="Theme51">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heme5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1885</Words>
  <Application>Microsoft Office PowerPoint</Application>
  <PresentationFormat>On-screen Show (16:9)</PresentationFormat>
  <Paragraphs>91</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Lucida Sans Unicode</vt:lpstr>
      <vt:lpstr>Theme51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Presentation</dc:title>
  <dc:subject/>
  <dc:creator>Unknown Creator</dc:creator>
  <cp:keywords/>
  <dc:description/>
  <cp:lastModifiedBy>Shreyash Bharati</cp:lastModifiedBy>
  <cp:revision>2</cp:revision>
  <dcterms:created xsi:type="dcterms:W3CDTF">2024-11-30T14:11:19Z</dcterms:created>
  <dcterms:modified xsi:type="dcterms:W3CDTF">2024-12-01T13:39:08Z</dcterms:modified>
  <cp:category/>
  <cp:contentStatus/>
</cp:coreProperties>
</file>